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36E"/>
                </a:solidFill>
                <a:latin typeface="Calibri"/>
              </a:defRPr>
            </a:pPr>
            <a:r>
              <a:t>Interim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6E"/>
                </a:solidFill>
                <a:latin typeface="Calibri"/>
              </a:defRPr>
            </a:pPr>
            <a:r>
              <a:t>Level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6E"/>
                </a:solidFill>
                <a:latin typeface="Calibri"/>
              </a:defRPr>
            </a:pPr>
            <a:r>
              <a:t>Dynamic Scenario Generation and Evaluation</a:t>
            </a:r>
            <a:br/>
            <a:r>
              <a:t>for VR-Based Military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Calibri"/>
              </a:defRPr>
            </a:pPr>
            <a:r>
              <a:t>By Team Sentinels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A623"/>
                </a:solidFill>
                <a:latin typeface="Calibri"/>
              </a:defRPr>
            </a:pPr>
            <a:r>
              <a:t>Group 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976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2222"/>
                </a:solidFill>
                <a:latin typeface="Calibri"/>
              </a:defRPr>
            </a:pPr>
            <a:r>
              <a:t>214036J  Chathuranga S.P.Y.N</a:t>
            </a:r>
            <a:br/>
            <a:r>
              <a:t>214057A  Dilshan R.P</a:t>
            </a:r>
            <a:br/>
            <a:r>
              <a:t>214217P  Wadumulla G.M.D</a:t>
            </a:r>
            <a:br/>
            <a:r>
              <a:t>214237C  Wijesinghe W.N.U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A623"/>
                </a:solidFill>
                <a:latin typeface="Calibri"/>
              </a:defRPr>
            </a:pPr>
            <a:r>
              <a:t>Supervisor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2222"/>
                </a:solidFill>
                <a:latin typeface="Calibri"/>
              </a:defRPr>
            </a:pPr>
            <a:r>
              <a:t>Dr. S.C. Premaratne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52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Faculty of Information Technology, University of Moratuwa</a:t>
            </a:r>
            <a:br/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36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Introduction &amp; Background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Research Problem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Aim &amp; Objectives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Proposed Solution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Our Approach — System Architecture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Module 1 — Dynamic Scenario Generation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Module 2 — NPC Behaviour and Coordination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Module 3 — Cognitive Behaviour Analysis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Module 4 — Logging, AAR and Session Replay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Limitations &amp; Future Work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Calibri"/>
              </a:defRPr>
            </a:pPr>
            <a:r>
              <a:t>Comprehensive Group Project | IN4910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36E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Military tactical training (hostage rescue) demands decisions under time pressure, uncertainty and strict safety constraints.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Live exercises are expensive, logistically demanding and hard to repeat under varied conditions.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VR offers a controlled, repeatable alternative — trainees practise mission flow safely while the system captures objective evidence.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Existing VR prototypes suffer from fixed scenarios, repetitive NPC behaviour and shallow post-mission feedback.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This project integrates four cooperating modules into one Unity-based VR training prototype for the Meta Quest 3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Calibri"/>
              </a:defRPr>
            </a:pPr>
            <a:r>
              <a:t>Comprehensive Group Project | IN4910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36E"/>
                </a:solidFill>
                <a:latin typeface="Calibri"/>
              </a:defRPr>
            </a:pPr>
            <a:r>
              <a:t>Background and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VR training effectiveness depends on meaningful scenario structure, measurable trainee response and informative review mechanisms [Xie et al., 2021].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Most prototypes use fixed or lightly randomised missions — reducing replayability and training value.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Research stresses parameter-driven generation while preserving mission coherence [Luo et al., 2013; Sottilare et al., 2024].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Gap between live runtime NPC behaviour and post-mission review remains largely unaddressed.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Structured AAR with synchronized replay significantly enhances learning efficacy [Kleygrewe et al., 2024].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Calibri"/>
              </a:defRPr>
            </a:pPr>
            <a:r>
              <a:t>Comprehensive Group Project | IN4910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36E"/>
                </a:solidFill>
                <a:latin typeface="Calibri"/>
              </a:defRPr>
            </a:pPr>
            <a:r>
              <a:t>Research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Current VR tactical-training prototypes suffer from three simultaneous weaknesses: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1.  Scenarios are fixed or only lightly varied.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2.  Runtime NPC behaviour is repetitive and lacks coordination.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3.  Post-mission review is limited to a final score or short summary.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Result: trainees experience monotonous missions, evaluators receive insufficient evidence, and the training value of repeated sessions degrades quickly.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Calibri"/>
              </a:defRPr>
            </a:pPr>
            <a:r>
              <a:t>Comprehensive Group Project | IN4910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36E"/>
                </a:solidFill>
                <a:latin typeface="Calibri"/>
              </a:defRPr>
            </a:pPr>
            <a:r>
              <a:t>Aim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Aim: Develop a VR training prototype for dynamic hostage-terrorist scenario generation and evaluation on Meta Quest 3.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Objectives: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•  Study VR tactical-training domain and evaluation measures.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•  Implement parameter-driven scenario generation with validation.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•  Implement event-driven NPC behaviour with coordination.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•  Implement cognitive behaviour analysis from runtime evidence.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•  Implement structured logging, AAR and synchronized replay.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•  Evaluate through module tests, integration tests and user trials.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Calibri"/>
              </a:defRPr>
            </a:pPr>
            <a:r>
              <a:t>Comprehensive Group Project | IN4910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36E"/>
                </a:solidFill>
                <a:latin typeface="Calibri"/>
              </a:defRPr>
            </a:pPr>
            <a:r>
              <a:t>Proposed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Unity 2022.3 LTS VR prototype for Meta Quest 3, organised into four cooperating modules: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Module 1 — Dynamic Scenario Generation: evaluator parameters → validated Scenario.json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Module 2 — NPC Behaviour &amp; Coordination: event-driven FSM for terrorists &amp; hostages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Module 3 — Cognitive Behaviour Analysis: reaction time + movement → cognitive indicators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Module 4 — Logging, AAR &amp; Replay: telemetry → score summary + timeline + replay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Shared contract: Scenario.json + common event schema → modules developed &amp; tested in parallel.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Calibri"/>
              </a:defRPr>
            </a:pPr>
            <a:r>
              <a:t>Comprehensive Group Project | IN4910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36E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Four modules on top of a Unity VR runtime: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•  Module 1 produces Scenario.json before mission.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•  Module 2 drives NPC behaviour during mission.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•  Module 3 observes trainee in parallel.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•  Module 4 transforms session into AAR + replay.</a:t>
            </a:r>
          </a:p>
        </p:txBody>
      </p:sp>
      <p:pic>
        <p:nvPicPr>
          <p:cNvPr id="6" name="Picture 5" descr="fig_5_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303520" cy="30591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Calibri"/>
              </a:defRPr>
            </a:pPr>
            <a:r>
              <a:t>Comprehensive Group Project | IN4910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36E"/>
                </a:solidFill>
                <a:latin typeface="Calibri"/>
              </a:defRPr>
            </a:pPr>
            <a:r>
              <a:t>Module 1 - Dynamic Scenario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1.  Input — Evaluator-defined ScenarioConfig.json containing room count,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   layout type, entity counts, placement strategy, difficulty and seed.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2.  Process —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   a)  Layout Generation: rooms, doors and entry points from layout type.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   b)  Entity Placement: trainee, hostages and terrorists by strategy.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   c)  Role Assignment: Patrol, RoamingGuard, StationaryGuard, HostageGuardian.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   d)  Navigation Context: waypoints, roam centres, facing directions.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   e)  Validation: reachability, overlap and constraint checks (seed+1 retry).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3.  Output — Validated Scenario.json containing layout, placements, roles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   and navigation context, consumed by Modules 2, 3 and 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Calibri"/>
              </a:defRPr>
            </a:pPr>
            <a:r>
              <a:t>Comprehensive Group Project | IN4910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36E"/>
                </a:solidFill>
                <a:latin typeface="Calibri"/>
              </a:defRPr>
            </a:pPr>
            <a:r>
              <a:t>Module 1 - Dynamic Scenario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6E"/>
                </a:solidFill>
                <a:latin typeface="Calibri"/>
              </a:defRPr>
            </a:pPr>
            <a:r>
              <a:t>Completed so far: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Data Models and IO (Stage 1).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LayoutGenerator — rooms, doors, entries (Stage 2).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EntityPlacer — placement strategies (Stage 3).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RoleAssigner + NavigationContextBuilder (Stage 4).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ScenarioGenerator orchestrator + Validator + 21 tests (Stage 5).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SceneBuilder — NavMesh bake, NPC spawn (Stage 6).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EvaluatorConfigPanel — TMP Canvas UI (Stage 7).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Editor Tools — menu commands (Stage 8).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6E"/>
                </a:solidFill>
                <a:latin typeface="Calibri"/>
              </a:defRPr>
            </a:pPr>
            <a:r>
              <a:t>As future work, should complete: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Multi-floor layout generation.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Additional layout types beyond linear/branching.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More diverse room-size distributions.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Extended evaluator configuration fields.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Integration testing with all four modules.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Calibri"/>
              </a:defRPr>
            </a:pPr>
            <a:r>
              <a:t>Comprehensive Group Project | IN4910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36E"/>
                </a:solidFill>
                <a:latin typeface="Calibri"/>
              </a:defRPr>
            </a:pPr>
            <a:r>
              <a:t>Module 2 - NPC Behaviour and Coordination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1.  Input — Scenario.json (roles, spawn positions, navigation context)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   + runtime trainee actions (shoot, breach, interact).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2.  Process —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   a)  Event Detection: trainee actions → structured events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        (ShotFired, GunshotHeard, DoorOpened, PlayerSeen, ...).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   b)  Event Dispatch: central EventManager routing and priority.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   c)  State Transitions: Terrorist FSM (Idle → Suspicious → Alert → Engage)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        and Hostage FSM (Calm → Fearful → Panic → Freeze → Follow).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   d)  Responder Selection: scoring by distance, role, state, perception.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   e)  Coordination: alert propagation and leader-issued reaction bias.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3.  Output — Updated NPC states + behaviour telemetry stream for Module 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Calibri"/>
              </a:defRPr>
            </a:pPr>
            <a:r>
              <a:t>Comprehensive Group Project | IN4910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36E"/>
                </a:solidFill>
                <a:latin typeface="Calibri"/>
              </a:defRPr>
            </a:pPr>
            <a:r>
              <a:t>Module 2 - NPC Behaviour and Coordination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6E"/>
                </a:solidFill>
                <a:latin typeface="Calibri"/>
              </a:defRPr>
            </a:pPr>
            <a:r>
              <a:t>Completed so far: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Runtime data types (ScenarioEvent, NPCStateChange).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Central EventManager and dispatch path.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NotifyScenarioReady() hand-off from Module 1.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IdleMode mapping (NpcRole → TerroristController).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Alert propagation prototype (GunshotHeard).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6E"/>
                </a:solidFill>
                <a:latin typeface="Calibri"/>
              </a:defRPr>
            </a:pPr>
            <a:r>
              <a:t>As future work, should complete: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Complete Terrorist FSM transition rules.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Complete Hostage FSM transition rules.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Implement responder-selection scoring.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Extend coordination logic (leader bias, support).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Telemetry stream stabilisation for Module 4.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Integration testing against Scenario.json fixtures.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Calibri"/>
              </a:defRPr>
            </a:pPr>
            <a:r>
              <a:t>Comprehensive Group Project | IN4910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36E"/>
                </a:solidFill>
                <a:latin typeface="Calibri"/>
              </a:defRPr>
            </a:pPr>
            <a:r>
              <a:t>Module 3 - Cognitive Behaviour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1.  Input — Event timestamps + response timestamps + head / hand / body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   transforms captured from the VR runtime (OpenXR).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2.  Process —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   a)  Feature Extraction: reaction time, movement initiation, stability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        and attention-related orientation patterns.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   b)  Rule-Based Cognitive Analysis: threshold-based scoring of extracted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        features to estimate cognitive load, stress and attention.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   c)  SIM-TLX Integration: post-mission subjective workload questionnaire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        (mental demand, frustration, stress, distraction, presence, ...).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3.  Output — Cognitive indicators (load, stress, attention) presented alongside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   mission telemetry in the Module 4 AAR dashboard.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Calibri"/>
              </a:defRPr>
            </a:pPr>
            <a:r>
              <a:t>Comprehensive Group Project | IN4910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36E"/>
                </a:solidFill>
                <a:latin typeface="Calibri"/>
              </a:defRPr>
            </a:pPr>
            <a:r>
              <a:t>Module 3 - Cognitive Behaviour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6E"/>
                </a:solidFill>
                <a:latin typeface="Calibri"/>
              </a:defRPr>
            </a:pPr>
            <a:r>
              <a:t>Completed so far: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VR capture path (head, hand, body-proxy via OpenXR).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Event and response timestamp logging schema.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Reaction-time feature extraction functions.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Movement feature extraction (initiation, stability).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SIM-TLX questionnaire drafted (10 dimensions).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6E"/>
                </a:solidFill>
                <a:latin typeface="Calibri"/>
              </a:defRPr>
            </a:pPr>
            <a:r>
              <a:t>As future work, should complete: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Complete rule-based cognitive scoring.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Finalise cognitive output schema for Module 4.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Collect pilot data from internal play-throughs.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Validate features against SIM-TLX ground truth.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Conduct user study (15–30 participants).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Calibri"/>
              </a:defRPr>
            </a:pPr>
            <a:r>
              <a:t>Comprehensive Group Project | IN4910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36E"/>
                </a:solidFill>
                <a:latin typeface="Calibri"/>
              </a:defRPr>
            </a:pPr>
            <a:r>
              <a:t>Module 4 - Logging, AAR and Session Replay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1.  Input — Mission events (Module 2) + cognitive outputs (Module 3)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   + scenario context (Module 1).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2.  Process —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   a)  Session Logging: timestamped events, state snapshots to JSON.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   b)  Score Computation: safety, accuracy, speed, mission success.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   c)  Incident Extraction: first sighting, first shot, hostage contact,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        hostage injury, terrorist neutralised, mission end.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   d)  AAR Dashboard: summary cards, event timeline, drill-down panels.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   e)  Synchronized Replay: stored transforms, pause / scrub / viewpoint.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3.  Output — SessionSummary.json, EventTimeline.json, ReplayData.json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   and an interactive AAR dashboard for evaluator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Calibri"/>
              </a:defRPr>
            </a:pPr>
            <a:r>
              <a:t>Comprehensive Group Project | IN4910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36E"/>
                </a:solidFill>
                <a:latin typeface="Calibri"/>
              </a:defRPr>
            </a:pPr>
            <a:r>
              <a:t>Module 4 - Logging, AAR and Session Replay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6E"/>
                </a:solidFill>
                <a:latin typeface="Calibri"/>
              </a:defRPr>
            </a:pPr>
            <a:r>
              <a:t>Completed so far: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Data schema (ScenarioEvent, NPCStateChange,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  ResponderDecision, BehaviorSnapshot, SessionSummary).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Score-summary computation v1 (safety, accuracy,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  speed, mission success).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SessionLogger with SimulateTestSession (ContextMenu).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Event timeline and incident extraction started.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6E"/>
                </a:solidFill>
                <a:latin typeface="Calibri"/>
              </a:defRPr>
            </a:pPr>
            <a:r>
              <a:t>As future work, should complete: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Complete structured-JSON logging engine.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Build AAR dashboard UI (summary cards, timeline).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Implement synchronized replay (viewpoints, scrub).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Add hostage-perspective panel and distress scoring.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Optional player-perspective video export.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Integration testing with full mission sessions.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Calibri"/>
              </a:defRPr>
            </a:pPr>
            <a:r>
              <a:t>Comprehensive Group Project | IN4910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36E"/>
                </a:solidFill>
                <a:latin typeface="Calibri"/>
              </a:defRPr>
            </a:pPr>
            <a:r>
              <a:t>Inter-Module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Centred on Scenario.json — produced by Module 1, consumed by Modules 2, 3 and 4.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Runtime events exchanged through EventManager — observed by Modules 3 and 4.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Post-session artefacts: SessionSummary.json, EventTimeline.json, ReplayData.json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Each module independently testable: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•  Module 1: 21 automated generation tests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•  Module 2: scripted event sequences → expected NPC states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•  Module 3: features verified against pilot recordings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•  Module 4: replay synchronisation against recorded sessions</a:t>
            </a:r>
          </a:p>
        </p:txBody>
      </p:sp>
      <p:pic>
        <p:nvPicPr>
          <p:cNvPr id="6" name="Picture 5" descr="fig_5_6_data_con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4114800" cy="22297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Calibri"/>
              </a:defRPr>
            </a:pPr>
            <a:r>
              <a:t>Comprehensive Group Project | IN4910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36E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Single floor only — multi-floor layout generation reserved for future work.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hostageCount is always 1 — no multi-hostage logic at this stage.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Consumer-grade headset (Quest 3) — approximate body tracking only.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Small participant pool for cognitive validation (15–30 planned).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No automated tactical recommendations — deliberate scope decision to avoid domain-dependent expert judgment.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Greybox environments only (ProBuilder) — not production-quality assets.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Calibri"/>
              </a:defRPr>
            </a:pPr>
            <a:r>
              <a:t>Comprehensive Group Project | IN4910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36E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Complete implementation of Modules 2, 3 and 4 to the level of Module 1.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Extend layout generator to multi-floor environments.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Introduce richer NPC coordination patterns and behaviour variety.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Run SIM-TLX-based user study (15–30 participants, low vs. high difficulty).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Expand AAR with comparative views across multiple sessions.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Larger-scale evaluation with trained personnel to assess training transfer.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Calibri"/>
              </a:defRPr>
            </a:pPr>
            <a:r>
              <a:t>Comprehensive Group Project | IN4910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36E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[1]  Xie, B. et al., "A Review on Virtual Reality Skill Training Applications," Frontiers in VR, 2021.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[2]  Boyce, M. W. et al., "Enhancing Military Training Using XR," Frontiers in VR, 2022.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[3]  Luo, L. et al., "Mission-Based Scenario Modeling and Generation," AIIDE-13, 2013.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[4]  Sottilare, R. A. et al., "Using Genetic Algorithms for Scenario Generation," FLAIRS, 2024.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[5]  Kleygrewe, L. et al., "AAR in VR Training for Police," Ergonomics, 2024.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[6]  Shaker, N. et al., Procedural Content Generation in Games, Springer, 2016.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[7]  Cook, M., "Procedural Generation and Information Games," IEEE CoG, 2020.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Calibri"/>
              </a:defRPr>
            </a:pPr>
            <a:r>
              <a:t>Comprehensive Group Project | IN4910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25603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A236E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8404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Comprehensive Group Project | IN4910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