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6E"/>
                </a:solidFill>
                <a:latin typeface="Calibri"/>
              </a:defRPr>
            </a:pPr>
            <a:r>
              <a:t>Interim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6E"/>
                </a:solidFill>
                <a:latin typeface="Calibri"/>
              </a:defRPr>
            </a:pPr>
            <a:r>
              <a:t>Level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36E"/>
                </a:solidFill>
                <a:latin typeface="Calibri"/>
              </a:defRPr>
            </a:pPr>
            <a:r>
              <a:t>Dynamic Scenario Generation and Evaluation</a:t>
            </a:r>
            <a:br/>
            <a:r>
              <a:t>for VR-Based Military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Calibri"/>
              </a:defRPr>
            </a:pPr>
            <a:r>
              <a:t>By Team Sentinels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Calibri"/>
              </a:defRPr>
            </a:pPr>
            <a:r>
              <a:t>Group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alibri"/>
              </a:defRPr>
            </a:pPr>
            <a:r>
              <a:t>214036J  Chathuranga S.P.Y.N</a:t>
            </a:r>
            <a:br/>
            <a:r>
              <a:t>214057A  Dilshan R.P</a:t>
            </a:r>
            <a:br/>
            <a:r>
              <a:t>214217P  Wadumulla G.M.D</a:t>
            </a:r>
            <a:br/>
            <a:r>
              <a:t>214237C  Wijesinghe W.N.U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Calibri"/>
              </a:defRPr>
            </a:pPr>
            <a:r>
              <a:t>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alibri"/>
              </a:defRPr>
            </a:pPr>
            <a:r>
              <a:t>Dr. S.C. Premaratne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Faculty of Information Technology, University of Moratuwa</a:t>
            </a:r>
            <a:br/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Introduction &amp; Background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Research Problem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Aim &amp; Objectives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Proposed Solution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Our Approach — System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1 — Dynamic Scenario Generation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2 — NPC Behaviour and Coordination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3 — Cognitive Behaviour Analysis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4 — Logging, AAR and Session Replay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Limitations &amp; Future Work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Military tactical training (hostage rescue) demands decisions under time pressure, uncertainty and strict safety constraints.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Live exercises are expensive, logistically demanding and hard to repeat under varied conditions.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VR offers a controlled, repeatable alternative — trainees practise mission flow safely while the system captures objective evidence.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Existing VR prototypes suffer from fixed scenarios, repetitive NPC behaviour and shallow post-mission feedback.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This project integrates four cooperating modules into one Unity-based VR training prototype for the Meta Quest 3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Background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VR training effectiveness depends on meaningful scenario structure, measurable trainee response and informative review mechanisms [Xie et al., 2021].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Most prototypes use fixed or lightly randomised missions — reducing replayability and training value.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Research stresses parameter-driven generation while preserving mission coherence [Luo et al., 2013; Sottilare et al., 2024].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Gap between live runtime NPC behaviour and post-mission review remains largely unaddressed.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Structured AAR with synchronized replay significantly enhances learning efficacy [Kleygrewe et al., 2024].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Research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Current VR tactical-training prototypes suffer from three simultaneous weaknesses: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1.  Scenarios are fixed or only lightly varied.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2.  Runtime NPC behaviour is repetitive and lacks coordination.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3.  Post-mission review is limited to a final score or short summary.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Result: trainees experience monotonous missions, evaluators receive insufficient evidence, and the training value of repeated sessions degrades quickly.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Aim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Aim: Develop a VR training prototype for dynamic hostage-terrorist scenario generation and evaluation on Meta Quest 3.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Objectives: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Study VR tactical-training domain and evaluation measures.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parameter-driven scenario generation with validation.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event-driven NPC behaviour with coordination.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cognitive behaviour analysis from runtime evidence.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Implement structured logging, AAR and synchronized replay.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Evaluate through module tests, integration tests and user trials.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Unity 2022.3 LTS VR prototype for Meta Quest 3, organised into four cooperating modules: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1 — Dynamic Scenario Generation: evaluator parameters → validated Scenario.json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2 — NPC Behaviour &amp; Coordination: event-driven FSM for terrorists &amp; hostages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3 — Cognitive Behaviour Analysis: reaction time + movement → cognitive indicators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Module 4 — Logging, AAR &amp; Replay: telemetry → score summary + timeline + replay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Shared contract: Scenario.json + common event schema → modules developed &amp; tested in parallel.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Four modules on top of a Unity VR runtime: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1 produces Scenario.json before mission.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2 drives NPC behaviour during mission.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3 observes trainee in parallel.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4 transforms session into AAR + replay.</a:t>
            </a:r>
          </a:p>
        </p:txBody>
      </p:sp>
      <p:pic>
        <p:nvPicPr>
          <p:cNvPr id="6" name="Picture 5" descr="fig_5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303520" cy="3059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1 — Dynamic Scenario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Converts evaluator-defined parameters into a structured, valid Scenario.json.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Key design properties: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Determinism — same config + seed = identical scenario every time.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Traceability — every generated value traces to a config parameter.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Modular composition — each pipeline stage is a small, testable C# class.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Pipeline: ScenarioConfig → LayoutGenerator → EntityPlacer → RoleAssigner →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NavigationContextBuilder → ScenarioValidator → ScenarioExporter</a:t>
            </a:r>
          </a:p>
        </p:txBody>
      </p:sp>
      <p:pic>
        <p:nvPicPr>
          <p:cNvPr id="6" name="Picture 5" descr="fig_5_2_module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1976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1 — 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All 8 Stages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1: Data Models &amp; IO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2: LayoutGenerator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3: EntityPlacer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4: RoleAssigner + NavContext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5: Orchestrator + Validator + 21 tests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6: SceneBuilder (NavMesh bake, NPC spawn)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7: EvaluatorConfigPanel (TMP Canvas)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8: Editor Tools (menu commands) — Complete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Key Integration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Validation: seed+1 retry on failure, fixed budget.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SceneBuilder maps NpcRole → IdleMode: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Patrol → Patrol (PatrolLine waypoints)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RoamingGuard → Wander (wanderRadius)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StationaryGuard → Static (facingDirection)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HostageGuardian → Static (near hostage)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Hand-off: EventManager.NotifyScenarioReady()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2 — NPC Behaviour and Coordination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Live runtime behaviour engine: turns trainee actions into believable NPC responses.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Core design: event-driven rather than raw input-driven.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Actions → structured events (ShotFired, GunshotHeard, DoorOpened, PlayerSeen, ...)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Events routed through central EventManager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Context-aware responder selection (distance, role, state, perception)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Terrorist FSM: Idle → Suspicious → Alert → Engage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Hostage FSM: Calm → Fearful → Panic → Freeze → Follow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Coordination: alert propagation, leader-issued reaction bias</a:t>
            </a:r>
          </a:p>
        </p:txBody>
      </p:sp>
      <p:pic>
        <p:nvPicPr>
          <p:cNvPr id="6" name="Picture 5" descr="fig_5_3_module2_event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7252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2 — 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Stage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1: Runtime data types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2: EventManager dispatch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3: Terrorist FSM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4: Hostage FSM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5: Responder-selection scoring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6: Coordination logic — Prototype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7: Telemetry stream to Module 4 — Prototype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8: Integration testing —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Event types defined in shared JSON schema.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NotifyScenarioReady() wired from Module 1.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Alert propagation prototype: GunshotHeard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escalates nearby terrorists.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IdleMode mapping from Module 1 NpcRole verified.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Next: formalise FSM transitions,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responder-selection scoring.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3 — Cognitive Behaviour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Observes the trainee (does not drive NPC behaviour).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Pipeline: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1. Capture event &amp; response timestamps + head/hand/body transforms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2. Extract features: reaction time, movement initiation, stability, attention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3. Rule-based cognitive analysis → cognitive indicators (load, stress, attention)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4. Present alongside mission telemetry in AAR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Subjective workload: SIM-TLX questionnaire post-mission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(mental demand, frustration, stress, distraction, presence, ...)</a:t>
            </a:r>
          </a:p>
        </p:txBody>
      </p:sp>
      <p:pic>
        <p:nvPicPr>
          <p:cNvPr id="6" name="Picture 5" descr="fig_5_4_module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1865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3 — 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Stage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1: VR capture path (OpenXR)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2: Timestamp logging schema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3: Reaction-time features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4: Movement features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5: SIM-TLX questionnaire — Drafted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6: Rule-based cognitive analysis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7: Cognitive output schema — Drafted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8: Pilot data collection —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Capture pipeline subscribes to Module 2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EventManager for event–response pairing.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Feature functions implemented as pure C#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(can run in-engine or off-engine).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SIM-TLX covers 10 dimensions integrated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into post-mission flow.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Next: pilot data from internal play-throughs.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4 — Logging, AAR and Session Replay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Transforms completed mission into structured, inspectable evidence.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Scoped to evidence-based review — no automated tactical recommendations.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Components: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Session Logging Engine — timestamped events, state snapshots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Score Summary — safety, accuracy, speed, mission success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AAR Dashboard — summary cards, key incidents, event timeline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Synchronized Replay — stored transforms, viewpoint switching, pause/scrub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Hostage Perspective Panel — state timeline, distress scoring</a:t>
            </a:r>
          </a:p>
        </p:txBody>
      </p:sp>
      <p:pic>
        <p:nvPicPr>
          <p:cNvPr id="6" name="Picture 5" descr="fig_5_5_module4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5029200" cy="24312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Module 4 — Implementation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Stage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1: Data schema — Complete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2: Logging engine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3: Score computation — Complete (v1)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4: Event timeline + incidents — In progress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5: AAR dashboard UI — Prototype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6: Synchronized replay — Pending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7: Hostage perspective panel — Drafted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Stage 8: Video export + integration — 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6E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SessionLogger with ContextMenu-driven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SimulateTestSession for editor testing.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Shared schema: ScenarioEvent, NPCStateChange,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ResponderDecision, BehaviorSnapshot,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SessionSummary.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Replay built on transforms + state snapshots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  (not rendered video) → viewpoint switching.</a:t>
            </a: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Next: AAR dashboard, replay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Inter-Module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Centred on Scenario.json — produced by Module 1, consumed by Modules 2, 3 and 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Runtime events exchanged through EventManager — observed by Modules 3 and 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Post-session artefacts: SessionSummary.json, EventTimeline.json, ReplayData.json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Each module independently testable: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1: 21 automated generation tests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2: scripted event sequences → expected NPC states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3: features verified against pilot recordings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  •  Module 4: replay synchronisation against recorded sessions</a:t>
            </a:r>
          </a:p>
        </p:txBody>
      </p:sp>
      <p:pic>
        <p:nvPicPr>
          <p:cNvPr id="6" name="Picture 5" descr="fig_5_6_data_con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71600"/>
            <a:ext cx="4114800" cy="22297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Single floor only — multi-floor layout generation reserved for future work.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hostageCount is always 1 — no multi-hostage logic at this stage.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Consumer-grade headset (Quest 3) — approximate body tracking only.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Small participant pool for cognitive validation (15–30 planned).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No automated tactical recommendations — deliberate scope decision to avoid domain-dependent expert judgment.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Greybox environments only (ProBuilder) — not production-quality assets.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Complete implementation of Modules 2, 3 and 4 to the level of Module 1.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Extend layout generator to multi-floor environments.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Introduce richer NPC coordination patterns and behaviour variety.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Run SIM-TLX-based user study (15–30 participants, low vs. high difficulty).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Expand AAR with comparative views across multiple sessions.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Larger-scale evaluation with trained personnel to assess training transfer.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236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2286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[1]  Xie, B. et al., "A Review on Virtual Reality Skill Training Applications," Frontiers in VR, 2021.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[2]  Boyce, M. W. et al., "Enhancing Military Training Using XR," Frontiers in VR, 2022.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[3]  Luo, L. et al., "Mission-Based Scenario Modeling and Generation," AIIDE-13, 2013.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[4]  Sottilare, R. A. et al., "Using Genetic Algorithms for Scenario Generation," FLAIRS, 2024.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[5]  Kleygrewe, L. et al., "AAR in VR Training for Police," Ergonomics, 2024.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[6]  Shaker, N. et al., Procedural Content Generation in Games, Springer, 2016.</a:t>
            </a:r>
          </a:p>
          <a:p>
            <a:pPr>
              <a:spcAft>
                <a:spcPts val="800"/>
              </a:spcAft>
              <a:defRPr sz="1800">
                <a:solidFill>
                  <a:srgbClr val="222222"/>
                </a:solidFill>
                <a:latin typeface="Calibri"/>
              </a:defRPr>
              <a:buChar char="•"/>
            </a:pPr>
            <a:r>
              <a:t>[7]  Cook, M., "Procedural Generation and Information Games," IEEE CoG, 2020.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A236E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840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Comprehensive Group Project | IN4910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