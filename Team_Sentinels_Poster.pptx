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120000" cy="2138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324000"/>
            <a:ext cx="14256000" cy="936000"/>
          </a:xfrm>
          <a:prstGeom prst="roundRect">
            <a:avLst>
              <a:gd name="adj" fmla="val 10000"/>
            </a:avLst>
          </a:prstGeom>
          <a:solidFill>
            <a:srgbClr val="082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8000" y="450000"/>
            <a:ext cx="1080000" cy="684000"/>
          </a:xfrm>
          <a:prstGeom prst="roundRect">
            <a:avLst>
              <a:gd name="adj" fmla="val 18000"/>
            </a:avLst>
          </a:prstGeom>
          <a:noFill/>
          <a:ln w="2032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450000"/>
            <a:ext cx="1080000" cy="68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750" b="1">
                <a:solidFill>
                  <a:srgbClr val="86B6EF"/>
                </a:solidFill>
                <a:latin typeface="Segoe UI"/>
              </a:rPr>
              <a:t>GROUP</a:t>
            </a:r>
          </a:p>
          <a:p>
            <a:pPr algn="ctr">
              <a:lnSpc>
                <a:spcPct val="95000"/>
              </a:lnSpc>
            </a:pPr>
            <a:r>
              <a:rPr sz="1900" b="1">
                <a:solidFill>
                  <a:srgbClr val="FFFFFF"/>
                </a:solidFill>
                <a:latin typeface="Segoe UI"/>
              </a:rPr>
              <a:t>56</a:t>
            </a:r>
          </a:p>
          <a:p>
            <a:pPr algn="ctr">
              <a:lnSpc>
                <a:spcPct val="95000"/>
              </a:lnSpc>
            </a:pPr>
            <a:r>
              <a:rPr sz="750" b="1">
                <a:solidFill>
                  <a:srgbClr val="EB6834"/>
                </a:solidFill>
                <a:latin typeface="Segoe UI"/>
              </a:rPr>
              <a:t>SENTINELS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0000" y="486000"/>
            <a:ext cx="12492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 i="0">
                <a:solidFill>
                  <a:srgbClr val="FFFFFF"/>
                </a:solidFill>
                <a:latin typeface="Segoe UI"/>
              </a:rPr>
              <a:t>Dynamic Scenario Generation and Evaluation for VR-Based Military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0000" y="882000"/>
            <a:ext cx="12492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0" i="0">
                <a:solidFill>
                  <a:srgbClr val="DBE6F5"/>
                </a:solidFill>
                <a:latin typeface="Segoe UI"/>
              </a:rPr>
              <a:t>A four-module Unity VR hostage-rescue trainer for the Meta Quest 3 — parameter-driven scenarios, tactical NPC behaviour, non-invasive cognition analysis, and evidence-linked after-action review — each independently, empirically evaluated.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1404000"/>
            <a:ext cx="6914160" cy="1980000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2000" y="1404000"/>
            <a:ext cx="50400" cy="1980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000" y="1494000"/>
            <a:ext cx="659016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B3D78"/>
                </a:solidFill>
                <a:latin typeface="Segoe UI"/>
              </a:rPr>
              <a:t>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000" y="1728000"/>
            <a:ext cx="6590160" cy="57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60" b="0" i="0">
                <a:solidFill>
                  <a:srgbClr val="2C2E33"/>
                </a:solidFill>
                <a:latin typeface="Segoe UI"/>
              </a:rPr>
              <a:t>Live hostage-rescue training is expensive and hard to repeat under comparable conditions. Existing VR trainers compound this with fixed/lightly-varied scenarios, NPCs that behave predictably, and feedback limited to a single score with no evidence trail.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000" y="2358000"/>
            <a:ext cx="6590160" cy="1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EB6834"/>
                </a:solidFill>
                <a:latin typeface="Segoe UI"/>
              </a:rPr>
              <a:t>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000" y="2520000"/>
            <a:ext cx="6554160" cy="82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80"/>
              </a:spcAft>
            </a:pPr>
            <a:r>
              <a:rPr sz="860" b="1">
                <a:solidFill>
                  <a:srgbClr val="0B3D78"/>
                </a:solidFill>
                <a:latin typeface="Segoe UI"/>
              </a:rPr>
              <a:t>▪ </a:t>
            </a:r>
            <a:r>
              <a:rPr sz="791" b="1">
                <a:solidFill>
                  <a:srgbClr val="0B3D78"/>
                </a:solidFill>
                <a:latin typeface="Segoe UI"/>
              </a:rPr>
              <a:t> </a:t>
            </a:r>
            <a:r>
              <a:rPr sz="860" b="0">
                <a:solidFill>
                  <a:srgbClr val="2C2E33"/>
                </a:solidFill>
                <a:latin typeface="Segoe UI"/>
              </a:rPr>
              <a:t>Generate spatially-valid, varied missions from evaluator parameters.</a:t>
            </a:r>
          </a:p>
          <a:p>
            <a:pPr>
              <a:lnSpc>
                <a:spcPct val="100000"/>
              </a:lnSpc>
              <a:spcAft>
                <a:spcPts val="80"/>
              </a:spcAft>
            </a:pPr>
            <a:r>
              <a:rPr sz="860" b="1">
                <a:solidFill>
                  <a:srgbClr val="0B3D78"/>
                </a:solidFill>
                <a:latin typeface="Segoe UI"/>
              </a:rPr>
              <a:t>▪ </a:t>
            </a:r>
            <a:r>
              <a:rPr sz="791" b="1">
                <a:solidFill>
                  <a:srgbClr val="0B3D78"/>
                </a:solidFill>
                <a:latin typeface="Segoe UI"/>
              </a:rPr>
              <a:t> </a:t>
            </a:r>
            <a:r>
              <a:rPr sz="860" b="0">
                <a:solidFill>
                  <a:srgbClr val="2C2E33"/>
                </a:solidFill>
                <a:latin typeface="Segoe UI"/>
              </a:rPr>
              <a:t>Drive NPCs through event-driven, doctrinally-grounded, multi-tier behaviour.</a:t>
            </a:r>
          </a:p>
          <a:p>
            <a:pPr>
              <a:lnSpc>
                <a:spcPct val="100000"/>
              </a:lnSpc>
              <a:spcAft>
                <a:spcPts val="80"/>
              </a:spcAft>
            </a:pPr>
            <a:r>
              <a:rPr sz="860" b="1">
                <a:solidFill>
                  <a:srgbClr val="0B3D78"/>
                </a:solidFill>
                <a:latin typeface="Segoe UI"/>
              </a:rPr>
              <a:t>▪ </a:t>
            </a:r>
            <a:r>
              <a:rPr sz="791" b="1">
                <a:solidFill>
                  <a:srgbClr val="0B3D78"/>
                </a:solidFill>
                <a:latin typeface="Segoe UI"/>
              </a:rPr>
              <a:t> </a:t>
            </a:r>
            <a:r>
              <a:rPr sz="860" b="0">
                <a:solidFill>
                  <a:srgbClr val="2C2E33"/>
                </a:solidFill>
                <a:latin typeface="Segoe UI"/>
              </a:rPr>
              <a:t>Capture trainee cognition/movement non-invasively, honestly against literature.</a:t>
            </a:r>
          </a:p>
          <a:p>
            <a:pPr>
              <a:lnSpc>
                <a:spcPct val="100000"/>
              </a:lnSpc>
              <a:spcAft>
                <a:spcPts val="80"/>
              </a:spcAft>
            </a:pPr>
            <a:r>
              <a:rPr sz="860" b="1">
                <a:solidFill>
                  <a:srgbClr val="0B3D78"/>
                </a:solidFill>
                <a:latin typeface="Segoe UI"/>
              </a:rPr>
              <a:t>▪ </a:t>
            </a:r>
            <a:r>
              <a:rPr sz="791" b="1">
                <a:solidFill>
                  <a:srgbClr val="0B3D78"/>
                </a:solidFill>
                <a:latin typeface="Segoe UI"/>
              </a:rPr>
              <a:t>Demonstrate — not assert — </a:t>
            </a:r>
            <a:r>
              <a:rPr sz="860" b="0">
                <a:solidFill>
                  <a:srgbClr val="2C2E33"/>
                </a:solidFill>
                <a:latin typeface="Segoe UI"/>
              </a:rPr>
              <a:t>every subsystem works, with a matched evaluation.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3492000"/>
            <a:ext cx="6914160" cy="1980000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000" y="3492000"/>
            <a:ext cx="50400" cy="1980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000" y="3582000"/>
            <a:ext cx="659016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B3D78"/>
                </a:solidFill>
                <a:latin typeface="Segoe UI"/>
              </a:rPr>
              <a:t>Proposed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000" y="3816000"/>
            <a:ext cx="659016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60" b="0" i="0">
                <a:solidFill>
                  <a:srgbClr val="2C2E33"/>
                </a:solidFill>
                <a:latin typeface="Segoe UI"/>
              </a:rPr>
              <a:t>A Unity 2022.3 VR prototype for Meta Quest 3, as four cooperating modules around one shared Scenario.json contract + a common event schema — built and evaluated largely in parallel.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000" y="4356000"/>
            <a:ext cx="6590160" cy="1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EB6834"/>
                </a:solidFill>
                <a:latin typeface="Segoe UI"/>
              </a:rPr>
              <a:t>FOUR COOPERATING MODULES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000" y="4518000"/>
            <a:ext cx="6554160" cy="93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80"/>
              </a:spcAft>
            </a:pPr>
            <a:r>
              <a:rPr sz="860" b="1">
                <a:solidFill>
                  <a:srgbClr val="EB6834"/>
                </a:solidFill>
                <a:latin typeface="Segoe UI"/>
              </a:rPr>
              <a:t>▪ </a:t>
            </a:r>
            <a:r>
              <a:rPr sz="791" b="1">
                <a:solidFill>
                  <a:srgbClr val="EB6834"/>
                </a:solidFill>
                <a:latin typeface="Segoe UI"/>
              </a:rPr>
              <a:t>M1 Scenario Generation: </a:t>
            </a:r>
            <a:r>
              <a:rPr sz="860" b="0">
                <a:solidFill>
                  <a:srgbClr val="2C2E33"/>
                </a:solidFill>
                <a:latin typeface="Segoe UI"/>
              </a:rPr>
              <a:t>parameters → validated Scenario.json</a:t>
            </a:r>
          </a:p>
          <a:p>
            <a:pPr>
              <a:lnSpc>
                <a:spcPct val="100000"/>
              </a:lnSpc>
              <a:spcAft>
                <a:spcPts val="80"/>
              </a:spcAft>
            </a:pPr>
            <a:r>
              <a:rPr sz="860" b="1">
                <a:solidFill>
                  <a:srgbClr val="EB6834"/>
                </a:solidFill>
                <a:latin typeface="Segoe UI"/>
              </a:rPr>
              <a:t>▪ </a:t>
            </a:r>
            <a:r>
              <a:rPr sz="791" b="1">
                <a:solidFill>
                  <a:srgbClr val="EB6834"/>
                </a:solidFill>
                <a:latin typeface="Segoe UI"/>
              </a:rPr>
              <a:t>M2 NPC Behaviour: </a:t>
            </a:r>
            <a:r>
              <a:rPr sz="860" b="0">
                <a:solidFill>
                  <a:srgbClr val="2C2E33"/>
                </a:solidFill>
                <a:latin typeface="Segoe UI"/>
              </a:rPr>
              <a:t>event-driven FSM + squad hunt, 3 AI tiers</a:t>
            </a:r>
          </a:p>
          <a:p>
            <a:pPr>
              <a:lnSpc>
                <a:spcPct val="100000"/>
              </a:lnSpc>
              <a:spcAft>
                <a:spcPts val="80"/>
              </a:spcAft>
            </a:pPr>
            <a:r>
              <a:rPr sz="860" b="1">
                <a:solidFill>
                  <a:srgbClr val="EB6834"/>
                </a:solidFill>
                <a:latin typeface="Segoe UI"/>
              </a:rPr>
              <a:t>▪ </a:t>
            </a:r>
            <a:r>
              <a:rPr sz="791" b="1">
                <a:solidFill>
                  <a:srgbClr val="EB6834"/>
                </a:solidFill>
                <a:latin typeface="Segoe UI"/>
              </a:rPr>
              <a:t>M3 Cognitive Analysis: </a:t>
            </a:r>
            <a:r>
              <a:rPr sz="860" b="0">
                <a:solidFill>
                  <a:srgbClr val="2C2E33"/>
                </a:solidFill>
                <a:latin typeface="Segoe UI"/>
              </a:rPr>
              <a:t>reaction time + movement → tiered indicators</a:t>
            </a:r>
          </a:p>
          <a:p>
            <a:pPr>
              <a:lnSpc>
                <a:spcPct val="100000"/>
              </a:lnSpc>
              <a:spcAft>
                <a:spcPts val="80"/>
              </a:spcAft>
            </a:pPr>
            <a:r>
              <a:rPr sz="860" b="1">
                <a:solidFill>
                  <a:srgbClr val="EB6834"/>
                </a:solidFill>
                <a:latin typeface="Segoe UI"/>
              </a:rPr>
              <a:t>▪ </a:t>
            </a:r>
            <a:r>
              <a:rPr sz="791" b="1">
                <a:solidFill>
                  <a:srgbClr val="EB6834"/>
                </a:solidFill>
                <a:latin typeface="Segoe UI"/>
              </a:rPr>
              <a:t>M4 Logging &amp; AAR: </a:t>
            </a:r>
            <a:r>
              <a:rPr sz="860" b="0">
                <a:solidFill>
                  <a:srgbClr val="2C2E33"/>
                </a:solidFill>
                <a:latin typeface="Segoe UI"/>
              </a:rPr>
              <a:t>telemetry → 5 scores + timeline + 2D/3D replay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000" y="5616000"/>
            <a:ext cx="684216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 i="0">
                <a:solidFill>
                  <a:srgbClr val="0B3D78"/>
                </a:solidFill>
                <a:latin typeface="Segoe UI"/>
              </a:rPr>
              <a:t>ONE SHARED CONTRACT → FOUR INDEPENDENTLY-TESTABLE MODULES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000" y="5850000"/>
            <a:ext cx="6914160" cy="720000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2000" y="5850000"/>
            <a:ext cx="50400" cy="720000"/>
          </a:xfrm>
          <a:prstGeom prst="rect">
            <a:avLst/>
          </a:prstGeom>
          <a:solidFill>
            <a:srgbClr val="0B3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000" y="5922000"/>
            <a:ext cx="659016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B3D78"/>
                </a:solidFill>
                <a:latin typeface="Segoe UI"/>
              </a:rPr>
              <a:t>M1  </a:t>
            </a:r>
            <a:r>
              <a:rPr sz="1000" b="0" i="0">
                <a:solidFill>
                  <a:srgbClr val="63676E"/>
                </a:solidFill>
                <a:latin typeface="Segoe UI"/>
              </a:rPr>
              <a:t>→  </a:t>
            </a:r>
            <a:r>
              <a:rPr sz="1000" b="1" i="0">
                <a:solidFill>
                  <a:srgbClr val="0B3D78"/>
                </a:solidFill>
                <a:latin typeface="Segoe UI"/>
              </a:rPr>
              <a:t>Scenario.json  </a:t>
            </a:r>
            <a:r>
              <a:rPr sz="1000" b="0" i="0">
                <a:solidFill>
                  <a:srgbClr val="63676E"/>
                </a:solidFill>
                <a:latin typeface="Segoe UI"/>
              </a:rPr>
              <a:t>→  </a:t>
            </a:r>
            <a:r>
              <a:rPr sz="1000" b="1" i="0">
                <a:solidFill>
                  <a:srgbClr val="164A86"/>
                </a:solidFill>
                <a:latin typeface="Segoe UI"/>
              </a:rPr>
              <a:t>M2 · M3 · M4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000" y="6228000"/>
            <a:ext cx="659016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 i="1">
                <a:solidFill>
                  <a:srgbClr val="63676E"/>
                </a:solidFill>
                <a:latin typeface="Segoe UI"/>
              </a:rPr>
              <a:t>Room graph, roles &amp; navigation context — produced once by M1, consumed by every module.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2000" y="6649200"/>
            <a:ext cx="6914160" cy="720000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2000" y="6649200"/>
            <a:ext cx="50400" cy="720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000" y="6721200"/>
            <a:ext cx="659016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A78D6"/>
                </a:solidFill>
                <a:latin typeface="Segoe UI"/>
              </a:rPr>
              <a:t>M2  </a:t>
            </a:r>
            <a:r>
              <a:rPr sz="1000" b="0" i="0">
                <a:solidFill>
                  <a:srgbClr val="63676E"/>
                </a:solidFill>
                <a:latin typeface="Segoe UI"/>
              </a:rPr>
              <a:t>→  </a:t>
            </a:r>
            <a:r>
              <a:rPr sz="1000" b="1" i="0">
                <a:solidFill>
                  <a:srgbClr val="0B3D78"/>
                </a:solidFill>
                <a:latin typeface="Segoe UI"/>
              </a:rPr>
              <a:t>ScenarioEvents  </a:t>
            </a:r>
            <a:r>
              <a:rPr sz="1000" b="0" i="0">
                <a:solidFill>
                  <a:srgbClr val="63676E"/>
                </a:solidFill>
                <a:latin typeface="Segoe UI"/>
              </a:rPr>
              <a:t>→  </a:t>
            </a:r>
            <a:r>
              <a:rPr sz="1000" b="1" i="0">
                <a:solidFill>
                  <a:srgbClr val="164A86"/>
                </a:solidFill>
                <a:latin typeface="Segoe UI"/>
              </a:rPr>
              <a:t>M3 · M4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000" y="7027200"/>
            <a:ext cx="659016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 i="1">
                <a:solidFill>
                  <a:srgbClr val="63676E"/>
                </a:solidFill>
                <a:latin typeface="Segoe UI"/>
              </a:rPr>
              <a:t>Runtime event stream — observed live for cognitive features (M3) and logging/AAR (M4).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2000" y="7448400"/>
            <a:ext cx="6914160" cy="720000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2000" y="7448400"/>
            <a:ext cx="50400" cy="720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000" y="7520400"/>
            <a:ext cx="659016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EB6834"/>
                </a:solidFill>
                <a:latin typeface="Segoe UI"/>
              </a:rPr>
              <a:t>M4  </a:t>
            </a:r>
            <a:r>
              <a:rPr sz="1000" b="0" i="0">
                <a:solidFill>
                  <a:srgbClr val="63676E"/>
                </a:solidFill>
                <a:latin typeface="Segoe UI"/>
              </a:rPr>
              <a:t>→  </a:t>
            </a:r>
            <a:r>
              <a:rPr sz="1000" b="1" i="0">
                <a:solidFill>
                  <a:srgbClr val="0B3D78"/>
                </a:solidFill>
                <a:latin typeface="Segoe UI"/>
              </a:rPr>
              <a:t>SessionSummary  </a:t>
            </a:r>
            <a:r>
              <a:rPr sz="1000" b="0" i="0">
                <a:solidFill>
                  <a:srgbClr val="63676E"/>
                </a:solidFill>
                <a:latin typeface="Segoe UI"/>
              </a:rPr>
              <a:t>→  </a:t>
            </a:r>
            <a:r>
              <a:rPr sz="1000" b="1" i="0">
                <a:solidFill>
                  <a:srgbClr val="164A86"/>
                </a:solidFill>
                <a:latin typeface="Segoe UI"/>
              </a:rPr>
              <a:t>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000" y="7826400"/>
            <a:ext cx="659016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0" i="1">
                <a:solidFill>
                  <a:srgbClr val="63676E"/>
                </a:solidFill>
                <a:latin typeface="Segoe UI"/>
              </a:rPr>
              <a:t>Post-session JSON — scores, timeline &amp; replay data for the evaluation dashboard.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62160" y="1414800"/>
            <a:ext cx="57600" cy="1512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06160" y="1375200"/>
            <a:ext cx="4320000" cy="23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3D78"/>
                </a:solidFill>
                <a:latin typeface="Segoe UI"/>
              </a:rPr>
              <a:t>Our Approach — System Architecture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1032560" y="1497600"/>
            <a:ext cx="3655440" cy="0"/>
          </a:xfrm>
          <a:prstGeom prst="line">
            <a:avLst/>
          </a:prstGeom>
          <a:ln w="9525">
            <a:solidFill>
              <a:srgbClr val="D8DC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562160" y="1710000"/>
            <a:ext cx="7125840" cy="6390000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562160" y="1710000"/>
            <a:ext cx="50400" cy="6390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232463" y="1854631"/>
            <a:ext cx="3052607" cy="463996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15240">
            <a:solidFill>
              <a:srgbClr val="636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32463" y="1903473"/>
            <a:ext cx="3052607" cy="610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15" b="1" i="0">
                <a:solidFill>
                  <a:srgbClr val="16181C"/>
                </a:solidFill>
                <a:latin typeface="Segoe UI"/>
              </a:rPr>
              <a:t>EVALUATOR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2463" y="2111050"/>
            <a:ext cx="3052607" cy="488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63676E"/>
                </a:solidFill>
                <a:latin typeface="Segoe UI"/>
              </a:rPr>
              <a:t>layout · entity counts · AI tier · seed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0758767" y="2318627"/>
            <a:ext cx="0" cy="219788"/>
          </a:xfrm>
          <a:prstGeom prst="line">
            <a:avLst/>
          </a:prstGeom>
          <a:ln w="16510">
            <a:solidFill>
              <a:srgbClr val="2C2E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0606136" y="2367469"/>
            <a:ext cx="305260" cy="488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1">
                <a:solidFill>
                  <a:srgbClr val="63676E"/>
                </a:solidFill>
                <a:latin typeface="Segoe UI"/>
              </a:rPr>
              <a:t>ScenarioConfig.json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438785" y="2575046"/>
            <a:ext cx="4639962" cy="488417"/>
          </a:xfrm>
          <a:prstGeom prst="roundRect">
            <a:avLst>
              <a:gd name="adj" fmla="val 12000"/>
            </a:avLst>
          </a:prstGeom>
          <a:solidFill>
            <a:srgbClr val="0B3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38785" y="2672730"/>
            <a:ext cx="4639962" cy="610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96" b="1" i="0">
                <a:solidFill>
                  <a:srgbClr val="FFFFFF"/>
                </a:solidFill>
                <a:latin typeface="Segoe UI"/>
              </a:rPr>
              <a:t>MODULE 1 — Dynamic Scenario Generation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38785" y="2843676"/>
            <a:ext cx="4639962" cy="488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CFE0F5"/>
                </a:solidFill>
                <a:latin typeface="Segoe UI"/>
              </a:rPr>
              <a:t>room graph · placement · roles · nav context · furniture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0758767" y="3063463"/>
            <a:ext cx="0" cy="219788"/>
          </a:xfrm>
          <a:prstGeom prst="line">
            <a:avLst/>
          </a:prstGeom>
          <a:ln w="16510">
            <a:solidFill>
              <a:srgbClr val="2C2E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0606136" y="3100095"/>
            <a:ext cx="305260" cy="488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 i="1">
                <a:solidFill>
                  <a:srgbClr val="63676E"/>
                </a:solidFill>
                <a:latin typeface="Segoe UI"/>
              </a:rPr>
              <a:t>Scenario.json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950368" y="3319882"/>
            <a:ext cx="5616797" cy="201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2A78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84683" y="3368724"/>
            <a:ext cx="2674083" cy="42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50" b="1" i="0">
                <a:solidFill>
                  <a:srgbClr val="2A78D6"/>
                </a:solidFill>
                <a:latin typeface="Segoe UI"/>
              </a:rPr>
              <a:t>VR RUNTIME — UNITY MISSION EXECUTION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84683" y="3564091"/>
            <a:ext cx="1587355" cy="1648407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2700">
            <a:solidFill>
              <a:srgbClr val="636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84683" y="4290611"/>
            <a:ext cx="1587355" cy="610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96" b="1" i="0">
                <a:solidFill>
                  <a:srgbClr val="16181C"/>
                </a:solidFill>
                <a:latin typeface="Segoe UI"/>
              </a:rPr>
              <a:t>TRAINEE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84683" y="4443242"/>
            <a:ext cx="1587355" cy="42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63676E"/>
                </a:solidFill>
                <a:latin typeface="Segoe UI"/>
              </a:rPr>
              <a:t>actions in VR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842985" y="3564091"/>
            <a:ext cx="3602076" cy="702099"/>
          </a:xfrm>
          <a:prstGeom prst="roundRect">
            <a:avLst>
              <a:gd name="adj" fmla="val 12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842985" y="3771668"/>
            <a:ext cx="3602076" cy="610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 i="0">
                <a:solidFill>
                  <a:srgbClr val="FFFFFF"/>
                </a:solidFill>
                <a:latin typeface="Segoe UI"/>
              </a:rPr>
              <a:t>MODULE 2 — NPC Behaviour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42985" y="3942614"/>
            <a:ext cx="3602076" cy="42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DCEAFD"/>
                </a:solidFill>
                <a:latin typeface="Segoe UI"/>
              </a:rPr>
              <a:t>event-driven FSM · squad hunt · 3 AI tiers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842985" y="4363874"/>
            <a:ext cx="3602076" cy="702099"/>
          </a:xfrm>
          <a:prstGeom prst="roundRect">
            <a:avLst>
              <a:gd name="adj" fmla="val 12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842985" y="4577556"/>
            <a:ext cx="3602076" cy="610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 i="0">
                <a:solidFill>
                  <a:srgbClr val="FFFFFF"/>
                </a:solidFill>
                <a:latin typeface="Segoe UI"/>
              </a:rPr>
              <a:t>MODULE 3 — Cognitive Analysis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42985" y="4748502"/>
            <a:ext cx="3602076" cy="42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E3F8EF"/>
                </a:solidFill>
                <a:latin typeface="Segoe UI"/>
              </a:rPr>
              <a:t>reaction time · movement · workload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9672039" y="3912088"/>
            <a:ext cx="158735" cy="0"/>
          </a:xfrm>
          <a:prstGeom prst="line">
            <a:avLst/>
          </a:prstGeom>
          <a:ln w="13970">
            <a:solidFill>
              <a:srgbClr val="2C2E33"/>
            </a:solidFill>
            <a:tailEnd type="triangle" w="med" len="med"/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672039" y="4711871"/>
            <a:ext cx="158735" cy="0"/>
          </a:xfrm>
          <a:prstGeom prst="line">
            <a:avLst/>
          </a:prstGeom>
          <a:ln w="13970">
            <a:solidFill>
              <a:srgbClr val="2C2E33"/>
            </a:solidFill>
            <a:tailEnd type="triangle" w="med" len="med"/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9842985" y="5114815"/>
            <a:ext cx="3602076" cy="610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550" b="0" i="0">
                <a:solidFill>
                  <a:srgbClr val="63676E"/>
                </a:solidFill>
                <a:latin typeface="Segoe UI"/>
              </a:rPr>
              <a:t>M2 ↔ M3 share one runtime event bus — every action</a:t>
            </a:r>
          </a:p>
          <a:p>
            <a:pPr algn="ctr">
              <a:lnSpc>
                <a:spcPct val="110000"/>
              </a:lnSpc>
            </a:pPr>
            <a:r>
              <a:rPr sz="550" b="0" i="0">
                <a:solidFill>
                  <a:srgbClr val="63676E"/>
                </a:solidFill>
                <a:latin typeface="Segoe UI"/>
              </a:rPr>
              <a:t>&amp; NPC state change is a named event, observed by M4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10758767" y="5334603"/>
            <a:ext cx="0" cy="219788"/>
          </a:xfrm>
          <a:prstGeom prst="line">
            <a:avLst/>
          </a:prstGeom>
          <a:ln w="16510">
            <a:solidFill>
              <a:srgbClr val="2C2E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10178771" y="5377339"/>
            <a:ext cx="1159990" cy="488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1">
                <a:solidFill>
                  <a:srgbClr val="63676E"/>
                </a:solidFill>
                <a:latin typeface="Segoe UI"/>
              </a:rPr>
              <a:t>Runtime telemetry — events · NPC states · cognitive indicators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438785" y="5591022"/>
            <a:ext cx="4639962" cy="488417"/>
          </a:xfrm>
          <a:prstGeom prst="roundRect">
            <a:avLst>
              <a:gd name="adj" fmla="val 12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38785" y="5688705"/>
            <a:ext cx="4639962" cy="610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96" b="1" i="0">
                <a:solidFill>
                  <a:srgbClr val="FFFFFF"/>
                </a:solidFill>
                <a:latin typeface="Segoe UI"/>
              </a:rPr>
              <a:t>MODULE 4 — Logging, AAR &amp; Session Replay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38785" y="5859651"/>
            <a:ext cx="4639962" cy="488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0" i="0">
                <a:solidFill>
                  <a:srgbClr val="FDE3D5"/>
                </a:solidFill>
                <a:latin typeface="Segoe UI"/>
              </a:rPr>
              <a:t>incident extraction · 5 scores · distress index · 2D/3D replay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232463" y="6152702"/>
            <a:ext cx="3052607" cy="488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50" b="1" i="0">
                <a:solidFill>
                  <a:srgbClr val="16181C"/>
                </a:solidFill>
                <a:latin typeface="Segoe UI"/>
              </a:rPr>
              <a:t>→ Evaluator reviews the AAR (post-mission debrief)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13090959" y="2819255"/>
            <a:ext cx="0" cy="3015976"/>
          </a:xfrm>
          <a:prstGeom prst="bentConnector3">
            <a:avLst/>
          </a:prstGeom>
          <a:ln w="20320">
            <a:solidFill>
              <a:srgbClr val="EB6834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13628217" y="4199033"/>
            <a:ext cx="915782" cy="305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50" b="1" i="1">
                <a:solidFill>
                  <a:srgbClr val="EB6834"/>
                </a:solidFill>
                <a:latin typeface="Segoe UI"/>
              </a:rPr>
              <a:t>Scenario.json context,</a:t>
            </a:r>
          </a:p>
          <a:p>
            <a:pPr algn="ctr">
              <a:lnSpc>
                <a:spcPct val="100000"/>
              </a:lnSpc>
            </a:pPr>
            <a:r>
              <a:rPr sz="550" b="1" i="1">
                <a:solidFill>
                  <a:srgbClr val="EB6834"/>
                </a:solidFill>
                <a:latin typeface="Segoe UI"/>
              </a:rPr>
              <a:t>for replay/AAR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562160" y="8136000"/>
            <a:ext cx="712584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i="1">
                <a:solidFill>
                  <a:srgbClr val="63676E"/>
                </a:solidFill>
                <a:latin typeface="Segoe UI"/>
              </a:rPr>
              <a:t>Module 1 produces the mission before play begins; Modules 2 and 3 run live during the mission over a shared event bus; Module 4 transforms the completed session into evidence for the evaluator.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32000" y="8254800"/>
            <a:ext cx="57600" cy="1512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76000" y="8215200"/>
            <a:ext cx="4320000" cy="23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3D78"/>
                </a:solidFill>
                <a:latin typeface="Segoe UI"/>
              </a:rPr>
              <a:t>System in Action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2217600" y="8337600"/>
            <a:ext cx="12470400" cy="0"/>
          </a:xfrm>
          <a:prstGeom prst="line">
            <a:avLst/>
          </a:prstGeom>
          <a:ln w="9525">
            <a:solidFill>
              <a:srgbClr val="D8DC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ounded Rectangle 72"/>
          <p:cNvSpPr/>
          <p:nvPr/>
        </p:nvSpPr>
        <p:spPr>
          <a:xfrm>
            <a:off x="432000" y="8550000"/>
            <a:ext cx="3456000" cy="1584000"/>
          </a:xfrm>
          <a:prstGeom prst="roundRect">
            <a:avLst>
              <a:gd name="adj" fmla="val 4000"/>
            </a:avLst>
          </a:prstGeom>
          <a:solidFill>
            <a:srgbClr val="FBFCFE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32000" y="8550000"/>
            <a:ext cx="3456000" cy="46800"/>
          </a:xfrm>
          <a:prstGeom prst="rect">
            <a:avLst/>
          </a:prstGeom>
          <a:solidFill>
            <a:srgbClr val="0B3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32000" y="8596800"/>
            <a:ext cx="3456000" cy="936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fig_6_5_persistent_hunt.png"/>
          <p:cNvPicPr>
            <a:picLocks noChangeAspect="1"/>
          </p:cNvPicPr>
          <p:nvPr/>
        </p:nvPicPr>
        <p:blipFill>
          <a:blip r:embed="rId2"/>
          <a:srcRect t="26671" b="26671"/>
          <a:stretch>
            <a:fillRect/>
          </a:stretch>
        </p:blipFill>
        <p:spPr>
          <a:xfrm>
            <a:off x="432000" y="8596800"/>
            <a:ext cx="3456000" cy="936000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511200" y="9568800"/>
            <a:ext cx="3312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63676E"/>
                </a:solidFill>
                <a:latin typeface="Segoe UI"/>
              </a:rPr>
              <a:t>MODULE 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11200" y="9709200"/>
            <a:ext cx="3312000" cy="41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60" b="0" i="0">
                <a:solidFill>
                  <a:srgbClr val="2C2E33"/>
                </a:solidFill>
                <a:latin typeface="Segoe UI"/>
              </a:rPr>
              <a:t>A generated mission realised in Unity — room graph, doors, furniture and NPC roles.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032000" y="8550000"/>
            <a:ext cx="3456000" cy="1584000"/>
          </a:xfrm>
          <a:prstGeom prst="roundRect">
            <a:avLst>
              <a:gd name="adj" fmla="val 4000"/>
            </a:avLst>
          </a:prstGeom>
          <a:solidFill>
            <a:srgbClr val="FBFCFE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032000" y="8550000"/>
            <a:ext cx="3456000" cy="46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032000" y="8596800"/>
            <a:ext cx="3456000" cy="936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2" name="Picture 81" descr="fig_6_4_squad_hostage_room.png"/>
          <p:cNvPicPr>
            <a:picLocks noChangeAspect="1"/>
          </p:cNvPicPr>
          <p:nvPr/>
        </p:nvPicPr>
        <p:blipFill>
          <a:blip r:embed="rId3"/>
          <a:srcRect t="10572" b="10572"/>
          <a:stretch>
            <a:fillRect/>
          </a:stretch>
        </p:blipFill>
        <p:spPr>
          <a:xfrm>
            <a:off x="4032000" y="8596800"/>
            <a:ext cx="3456000" cy="936000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4111200" y="9568800"/>
            <a:ext cx="3312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63676E"/>
                </a:solidFill>
                <a:latin typeface="Segoe UI"/>
              </a:rPr>
              <a:t>MODULE 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11200" y="9709200"/>
            <a:ext cx="3312000" cy="41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60" b="0" i="0">
                <a:solidFill>
                  <a:srgbClr val="2C2E33"/>
                </a:solidFill>
                <a:latin typeface="Segoe UI"/>
              </a:rPr>
              <a:t>Squad-coordinated terrorists holding a hostage — FSM plus the shared, persistent hunt.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632000" y="8550000"/>
            <a:ext cx="3456000" cy="1584000"/>
          </a:xfrm>
          <a:prstGeom prst="roundRect">
            <a:avLst>
              <a:gd name="adj" fmla="val 4000"/>
            </a:avLst>
          </a:prstGeom>
          <a:solidFill>
            <a:srgbClr val="FBFCFE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32000" y="8550000"/>
            <a:ext cx="3456000" cy="468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32000" y="8596800"/>
            <a:ext cx="3456000" cy="936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8" name="Picture 87" descr="fig_6_10_cognitive_mirror_hud.png"/>
          <p:cNvPicPr>
            <a:picLocks noChangeAspect="1"/>
          </p:cNvPicPr>
          <p:nvPr/>
        </p:nvPicPr>
        <p:blipFill>
          <a:blip r:embed="rId4"/>
          <a:srcRect l="3417" r="3417"/>
          <a:stretch>
            <a:fillRect/>
          </a:stretch>
        </p:blipFill>
        <p:spPr>
          <a:xfrm>
            <a:off x="7632000" y="8596800"/>
            <a:ext cx="3456000" cy="936000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7711200" y="9568800"/>
            <a:ext cx="3312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63676E"/>
                </a:solidFill>
                <a:latin typeface="Segoe UI"/>
              </a:rPr>
              <a:t>MODULE 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711200" y="9709200"/>
            <a:ext cx="3312000" cy="41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60" b="0" i="0">
                <a:solidFill>
                  <a:srgbClr val="2C2E33"/>
                </a:solidFill>
                <a:latin typeface="Segoe UI"/>
              </a:rPr>
              <a:t>In-headset cognitive mirror HUD — reflecting the trainee's own tracking, non-invasively.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1232000" y="8550000"/>
            <a:ext cx="3456000" cy="1584000"/>
          </a:xfrm>
          <a:prstGeom prst="roundRect">
            <a:avLst>
              <a:gd name="adj" fmla="val 4000"/>
            </a:avLst>
          </a:prstGeom>
          <a:solidFill>
            <a:srgbClr val="FBFCFE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1232000" y="8550000"/>
            <a:ext cx="3456000" cy="468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1232000" y="8596800"/>
            <a:ext cx="3456000" cy="936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4" name="Picture 93" descr="Screenshot 2026-08-08 173305.png"/>
          <p:cNvPicPr>
            <a:picLocks noChangeAspect="1"/>
          </p:cNvPicPr>
          <p:nvPr/>
        </p:nvPicPr>
        <p:blipFill>
          <a:blip r:embed="rId5"/>
          <a:srcRect t="23899" b="23899"/>
          <a:stretch>
            <a:fillRect/>
          </a:stretch>
        </p:blipFill>
        <p:spPr>
          <a:xfrm>
            <a:off x="11232000" y="8596800"/>
            <a:ext cx="3456000" cy="936000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11311200" y="9568800"/>
            <a:ext cx="3312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63676E"/>
                </a:solidFill>
                <a:latin typeface="Segoe UI"/>
              </a:rPr>
              <a:t>MODULE 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311200" y="9709200"/>
            <a:ext cx="3312000" cy="41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60" b="0" i="0">
                <a:solidFill>
                  <a:srgbClr val="2C2E33"/>
                </a:solidFill>
                <a:latin typeface="Segoe UI"/>
              </a:rPr>
              <a:t>The Sentinels AAR web dashboard — session history, scores and workload trends across the trainee population.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32000" y="10288800"/>
            <a:ext cx="57600" cy="1512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76000" y="10249200"/>
            <a:ext cx="4320000" cy="23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3D78"/>
                </a:solidFill>
                <a:latin typeface="Segoe UI"/>
              </a:rPr>
              <a:t>Key Modules &amp; Evaluation Results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3715200" y="10371600"/>
            <a:ext cx="10972800" cy="0"/>
          </a:xfrm>
          <a:prstGeom prst="line">
            <a:avLst/>
          </a:prstGeom>
          <a:ln w="9525">
            <a:solidFill>
              <a:srgbClr val="D8DC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ounded Rectangle 99"/>
          <p:cNvSpPr/>
          <p:nvPr/>
        </p:nvSpPr>
        <p:spPr>
          <a:xfrm>
            <a:off x="432000" y="10584000"/>
            <a:ext cx="7065000" cy="4068000"/>
          </a:xfrm>
          <a:prstGeom prst="roundRect">
            <a:avLst>
              <a:gd name="adj" fmla="val 3500"/>
            </a:avLst>
          </a:prstGeom>
          <a:noFill/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432000" y="10584000"/>
            <a:ext cx="7065000" cy="288000"/>
          </a:xfrm>
          <a:prstGeom prst="rect">
            <a:avLst/>
          </a:prstGeom>
          <a:solidFill>
            <a:srgbClr val="0B3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40000" y="10584000"/>
            <a:ext cx="6849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01  </a:t>
            </a:r>
            <a:r>
              <a:rPr sz="1050" b="1" i="0">
                <a:solidFill>
                  <a:srgbClr val="FFFFFF"/>
                </a:solidFill>
                <a:latin typeface="Segoe UI"/>
              </a:rPr>
              <a:t>Dynamic Scenario Generation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40000" y="10926000"/>
            <a:ext cx="3426524" cy="26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160"/>
              </a:spcAft>
            </a:pPr>
            <a:r>
              <a:rPr sz="800" b="1">
                <a:solidFill>
                  <a:srgbClr val="0B3D78"/>
                </a:solidFill>
                <a:latin typeface="Segoe UI"/>
              </a:rPr>
              <a:t>▪ </a:t>
            </a:r>
            <a:r>
              <a:rPr sz="736" b="1">
                <a:solidFill>
                  <a:srgbClr val="0B3D78"/>
                </a:solidFill>
                <a:latin typeface="Segoe UI"/>
              </a:rPr>
              <a:t>What: </a:t>
            </a:r>
            <a:r>
              <a:rPr sz="800" b="0">
                <a:solidFill>
                  <a:srgbClr val="2C2E33"/>
                </a:solidFill>
                <a:latin typeface="Segoe UI"/>
              </a:rPr>
              <a:t>Converts evaluator parameters into a valid, playable mission — the contract every other module consumes.</a:t>
            </a:r>
          </a:p>
          <a:p>
            <a:pPr>
              <a:lnSpc>
                <a:spcPct val="100000"/>
              </a:lnSpc>
              <a:spcAft>
                <a:spcPts val="160"/>
              </a:spcAft>
            </a:pPr>
            <a:r>
              <a:rPr sz="800" b="1">
                <a:solidFill>
                  <a:srgbClr val="0B3D78"/>
                </a:solidFill>
                <a:latin typeface="Segoe UI"/>
              </a:rPr>
              <a:t>▪ </a:t>
            </a:r>
            <a:r>
              <a:rPr sz="736" b="1">
                <a:solidFill>
                  <a:srgbClr val="0B3D78"/>
                </a:solidFill>
                <a:latin typeface="Segoe UI"/>
              </a:rPr>
              <a:t>Novelty: </a:t>
            </a:r>
            <a:r>
              <a:rPr sz="800" b="0">
                <a:solidFill>
                  <a:srgbClr val="2C2E33"/>
                </a:solidFill>
                <a:latin typeface="Segoe UI"/>
              </a:rPr>
              <a:t>No existing system combines layout generation, placement, role assignment, validation and export in one pipeline; hostage room is always the deepest, most-defended dead end (BFS depth), never random.</a:t>
            </a:r>
          </a:p>
          <a:p>
            <a:pPr>
              <a:lnSpc>
                <a:spcPct val="100000"/>
              </a:lnSpc>
              <a:spcAft>
                <a:spcPts val="160"/>
              </a:spcAft>
            </a:pPr>
            <a:r>
              <a:rPr sz="800" b="1">
                <a:solidFill>
                  <a:srgbClr val="0B3D78"/>
                </a:solidFill>
                <a:latin typeface="Segoe UI"/>
              </a:rPr>
              <a:t>▪ </a:t>
            </a:r>
            <a:r>
              <a:rPr sz="736" b="1">
                <a:solidFill>
                  <a:srgbClr val="0B3D78"/>
                </a:solidFill>
                <a:latin typeface="Segoe UI"/>
              </a:rPr>
              <a:t>Method: </a:t>
            </a:r>
            <a:r>
              <a:rPr sz="800" b="0">
                <a:solidFill>
                  <a:srgbClr val="2C2E33"/>
                </a:solidFill>
                <a:latin typeface="Segoe UI"/>
              </a:rPr>
              <a:t>One seeded System.Random, 4 layout topologies, two-tier validator (local bounds/overlap/doors + global reachability/hostage-path/roles), seed+1 retry (budget 3).</a:t>
            </a:r>
          </a:p>
          <a:p>
            <a:pPr>
              <a:lnSpc>
                <a:spcPct val="100000"/>
              </a:lnSpc>
              <a:spcAft>
                <a:spcPts val="160"/>
              </a:spcAft>
            </a:pPr>
            <a:r>
              <a:rPr sz="800" b="1">
                <a:solidFill>
                  <a:srgbClr val="0B3D78"/>
                </a:solidFill>
                <a:latin typeface="Segoe UI"/>
              </a:rPr>
              <a:t>▪ </a:t>
            </a:r>
            <a:r>
              <a:rPr sz="736" b="1">
                <a:solidFill>
                  <a:srgbClr val="0B3D78"/>
                </a:solidFill>
                <a:latin typeface="Segoe UI"/>
              </a:rPr>
              <a:t>Evaluation: </a:t>
            </a:r>
            <a:r>
              <a:rPr sz="800" b="0">
                <a:solidFill>
                  <a:srgbClr val="2C2E33"/>
                </a:solidFill>
                <a:latin typeface="Segoe UI"/>
              </a:rPr>
              <a:t>2,000-scenario statistical study across 6 experiments (Shapiro-Wilk → ANOVA/Kruskal-Wallis, effect sizes).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540000" y="13623840"/>
            <a:ext cx="1103774" cy="974160"/>
          </a:xfrm>
          <a:prstGeom prst="roundRect">
            <a:avLst>
              <a:gd name="adj" fmla="val 8000"/>
            </a:avLst>
          </a:prstGeom>
          <a:solidFill>
            <a:srgbClr val="EAF2FC"/>
          </a:solidFill>
          <a:ln w="635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76000" y="13659840"/>
            <a:ext cx="1031774" cy="48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60" b="1" i="0">
                <a:solidFill>
                  <a:srgbClr val="0B3D78"/>
                </a:solidFill>
                <a:latin typeface="Segoe UI"/>
              </a:rPr>
              <a:t>100%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76000" y="14110920"/>
            <a:ext cx="1031774" cy="48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560" b="0" i="0">
                <a:solidFill>
                  <a:srgbClr val="63676E"/>
                </a:solidFill>
                <a:latin typeface="Segoe UI"/>
              </a:rPr>
              <a:t>valid, every evaluator-reachable config (43/43)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1701375" y="13623840"/>
            <a:ext cx="1103774" cy="974160"/>
          </a:xfrm>
          <a:prstGeom prst="roundRect">
            <a:avLst>
              <a:gd name="adj" fmla="val 8000"/>
            </a:avLst>
          </a:prstGeom>
          <a:solidFill>
            <a:srgbClr val="EAF2FC"/>
          </a:solidFill>
          <a:ln w="635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737375" y="13659840"/>
            <a:ext cx="1031774" cy="48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60" b="1" i="0">
                <a:solidFill>
                  <a:srgbClr val="0B3D78"/>
                </a:solidFill>
                <a:latin typeface="Segoe UI"/>
              </a:rPr>
              <a:t>24 / 26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737375" y="14110920"/>
            <a:ext cx="1031774" cy="48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560" b="0" i="0">
                <a:solidFill>
                  <a:srgbClr val="63676E"/>
                </a:solidFill>
                <a:latin typeface="Segoe UI"/>
              </a:rPr>
              <a:t>parameter→metric pairs p&lt;0.0001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2862750" y="13623840"/>
            <a:ext cx="1103774" cy="974160"/>
          </a:xfrm>
          <a:prstGeom prst="roundRect">
            <a:avLst>
              <a:gd name="adj" fmla="val 8000"/>
            </a:avLst>
          </a:prstGeom>
          <a:solidFill>
            <a:srgbClr val="EAF2FC"/>
          </a:solidFill>
          <a:ln w="635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898750" y="13659840"/>
            <a:ext cx="1031774" cy="48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60" b="1" i="0">
                <a:solidFill>
                  <a:srgbClr val="0B3D78"/>
                </a:solidFill>
                <a:latin typeface="Segoe UI"/>
              </a:rPr>
              <a:t>2,000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898750" y="14110920"/>
            <a:ext cx="1031774" cy="48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560" b="0" i="0">
                <a:solidFill>
                  <a:srgbClr val="63676E"/>
                </a:solidFill>
                <a:latin typeface="Segoe UI"/>
              </a:rPr>
              <a:t>scenarios across 6 experiments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4074524" y="10926000"/>
            <a:ext cx="3422475" cy="15422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762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4108749" y="11022424"/>
            <a:ext cx="754655" cy="43769"/>
          </a:xfrm>
          <a:prstGeom prst="roundRect">
            <a:avLst>
              <a:gd name="adj" fmla="val 1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108749" y="11022424"/>
            <a:ext cx="754655" cy="437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560" b="1" i="0">
                <a:solidFill>
                  <a:srgbClr val="16181C"/>
                </a:solidFill>
                <a:latin typeface="Segoe UI"/>
              </a:rPr>
              <a:t>ScenarioConfig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4970734" y="11022424"/>
            <a:ext cx="754655" cy="43769"/>
          </a:xfrm>
          <a:prstGeom prst="roundRect">
            <a:avLst>
              <a:gd name="adj" fmla="val 18000"/>
            </a:avLst>
          </a:prstGeom>
          <a:solidFill>
            <a:srgbClr val="0B3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970734" y="11022424"/>
            <a:ext cx="754655" cy="437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560" b="1" i="0">
                <a:solidFill>
                  <a:srgbClr val="FFFFFF"/>
                </a:solidFill>
                <a:latin typeface="Segoe UI"/>
              </a:rPr>
              <a:t>LayoutGenerator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5832718" y="11022424"/>
            <a:ext cx="754655" cy="43769"/>
          </a:xfrm>
          <a:prstGeom prst="roundRect">
            <a:avLst>
              <a:gd name="adj" fmla="val 18000"/>
            </a:avLst>
          </a:prstGeom>
          <a:solidFill>
            <a:srgbClr val="0B3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5832718" y="11022424"/>
            <a:ext cx="754655" cy="437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560" b="1" i="0">
                <a:solidFill>
                  <a:srgbClr val="FFFFFF"/>
                </a:solidFill>
                <a:latin typeface="Segoe UI"/>
              </a:rPr>
              <a:t>EntityPlacer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6694703" y="11022424"/>
            <a:ext cx="754655" cy="43769"/>
          </a:xfrm>
          <a:prstGeom prst="roundRect">
            <a:avLst>
              <a:gd name="adj" fmla="val 18000"/>
            </a:avLst>
          </a:prstGeom>
          <a:solidFill>
            <a:srgbClr val="0B3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694703" y="11022424"/>
            <a:ext cx="754655" cy="437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560" b="1" i="0">
                <a:solidFill>
                  <a:srgbClr val="FFFFFF"/>
                </a:solidFill>
                <a:latin typeface="Segoe UI"/>
              </a:rPr>
              <a:t>RoleAssigner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4108749" y="11097318"/>
            <a:ext cx="855276" cy="43769"/>
          </a:xfrm>
          <a:prstGeom prst="roundRect">
            <a:avLst>
              <a:gd name="adj" fmla="val 18000"/>
            </a:avLst>
          </a:prstGeom>
          <a:solidFill>
            <a:srgbClr val="0B3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4108749" y="11097318"/>
            <a:ext cx="855276" cy="437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560" b="1" i="0">
                <a:solidFill>
                  <a:srgbClr val="FFFFFF"/>
                </a:solidFill>
                <a:latin typeface="Segoe UI"/>
              </a:rPr>
              <a:t>NavigationContext-</a:t>
            </a:r>
          </a:p>
          <a:p>
            <a:pPr algn="ctr">
              <a:lnSpc>
                <a:spcPct val="95000"/>
              </a:lnSpc>
            </a:pPr>
            <a:r>
              <a:rPr sz="560" b="1" i="0">
                <a:solidFill>
                  <a:srgbClr val="FFFFFF"/>
                </a:solidFill>
                <a:latin typeface="Segoe UI"/>
              </a:rPr>
              <a:t>Builder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5071355" y="11097318"/>
            <a:ext cx="754655" cy="43769"/>
          </a:xfrm>
          <a:prstGeom prst="roundRect">
            <a:avLst>
              <a:gd name="adj" fmla="val 18000"/>
            </a:avLst>
          </a:prstGeom>
          <a:solidFill>
            <a:srgbClr val="0B3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5071355" y="11097318"/>
            <a:ext cx="754655" cy="437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560" b="1" i="0">
                <a:solidFill>
                  <a:srgbClr val="FFFFFF"/>
                </a:solidFill>
                <a:latin typeface="Segoe UI"/>
              </a:rPr>
              <a:t>FurniturePlacer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5933339" y="11097318"/>
            <a:ext cx="788195" cy="43769"/>
          </a:xfrm>
          <a:prstGeom prst="roundRect">
            <a:avLst>
              <a:gd name="adj" fmla="val 18000"/>
            </a:avLst>
          </a:prstGeom>
          <a:solidFill>
            <a:srgbClr val="0B3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933339" y="11097318"/>
            <a:ext cx="788195" cy="437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560" b="1" i="0">
                <a:solidFill>
                  <a:srgbClr val="FFFFFF"/>
                </a:solidFill>
                <a:latin typeface="Segoe UI"/>
              </a:rPr>
              <a:t>ScenarioValidator</a:t>
            </a:r>
          </a:p>
          <a:p>
            <a:pPr algn="ctr">
              <a:lnSpc>
                <a:spcPct val="95000"/>
              </a:lnSpc>
            </a:pPr>
            <a:r>
              <a:rPr sz="560" b="1" i="0">
                <a:solidFill>
                  <a:srgbClr val="FFFFFF"/>
                </a:solidFill>
                <a:latin typeface="Segoe UI"/>
              </a:rPr>
              <a:t>→ Exporter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6828864" y="11097318"/>
            <a:ext cx="620494" cy="43769"/>
          </a:xfrm>
          <a:prstGeom prst="roundRect">
            <a:avLst>
              <a:gd name="adj" fmla="val 1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828864" y="11097318"/>
            <a:ext cx="620494" cy="437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560" b="1" i="0">
                <a:solidFill>
                  <a:srgbClr val="FFFFFF"/>
                </a:solidFill>
                <a:latin typeface="Segoe UI"/>
              </a:rPr>
              <a:t>Scenario.json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4863405" y="11044309"/>
            <a:ext cx="90559" cy="0"/>
          </a:xfrm>
          <a:prstGeom prst="line">
            <a:avLst/>
          </a:prstGeom>
          <a:ln w="7620">
            <a:solidFill>
              <a:srgbClr val="2C2E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5725390" y="11044309"/>
            <a:ext cx="90558" cy="0"/>
          </a:xfrm>
          <a:prstGeom prst="line">
            <a:avLst/>
          </a:prstGeom>
          <a:ln w="7620">
            <a:solidFill>
              <a:srgbClr val="2C2E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6587374" y="11044309"/>
            <a:ext cx="90559" cy="0"/>
          </a:xfrm>
          <a:prstGeom prst="line">
            <a:avLst/>
          </a:prstGeom>
          <a:ln w="7620">
            <a:solidFill>
              <a:srgbClr val="2C2E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4964026" y="11119203"/>
            <a:ext cx="90558" cy="0"/>
          </a:xfrm>
          <a:prstGeom prst="line">
            <a:avLst/>
          </a:prstGeom>
          <a:ln w="7620">
            <a:solidFill>
              <a:srgbClr val="2C2E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5826010" y="11119203"/>
            <a:ext cx="90559" cy="0"/>
          </a:xfrm>
          <a:prstGeom prst="line">
            <a:avLst/>
          </a:prstGeom>
          <a:ln w="7620">
            <a:solidFill>
              <a:srgbClr val="2C2E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6721535" y="11119203"/>
            <a:ext cx="90559" cy="0"/>
          </a:xfrm>
          <a:prstGeom prst="line">
            <a:avLst/>
          </a:prstGeom>
          <a:ln w="7620">
            <a:solidFill>
              <a:srgbClr val="2C2E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H="1">
            <a:off x="4544773" y="11066194"/>
            <a:ext cx="2902909" cy="29179"/>
          </a:xfrm>
          <a:prstGeom prst="bentConnector3">
            <a:avLst/>
          </a:prstGeom>
          <a:ln w="7620">
            <a:solidFill>
              <a:srgbClr val="2C2E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H="1" flipV="1">
            <a:off x="5723713" y="11066194"/>
            <a:ext cx="996145" cy="31124"/>
          </a:xfrm>
          <a:prstGeom prst="bentConnector3">
            <a:avLst/>
          </a:prstGeom>
          <a:ln w="6985">
            <a:solidFill>
              <a:srgbClr val="EB6834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Rounded Rectangle 137"/>
          <p:cNvSpPr/>
          <p:nvPr/>
        </p:nvSpPr>
        <p:spPr>
          <a:xfrm>
            <a:off x="4074524" y="12511439"/>
            <a:ext cx="3422475" cy="189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762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9" name="Picture 138" descr="FigE1_passrate_by_scop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9239" y="12547439"/>
            <a:ext cx="2873046" cy="1823760"/>
          </a:xfrm>
          <a:prstGeom prst="rect">
            <a:avLst/>
          </a:prstGeom>
        </p:spPr>
      </p:pic>
      <p:sp>
        <p:nvSpPr>
          <p:cNvPr id="140" name="TextBox 139"/>
          <p:cNvSpPr txBox="1"/>
          <p:nvPr/>
        </p:nvSpPr>
        <p:spPr>
          <a:xfrm>
            <a:off x="4074524" y="14418000"/>
            <a:ext cx="3422475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" b="0" i="1">
                <a:solidFill>
                  <a:srgbClr val="63676E"/>
                </a:solidFill>
                <a:latin typeface="Segoe UI"/>
              </a:rPr>
              <a:t>Validation pass rate — 100% within the evaluator-reachable range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7623000" y="10584000"/>
            <a:ext cx="7065000" cy="4068000"/>
          </a:xfrm>
          <a:prstGeom prst="roundRect">
            <a:avLst>
              <a:gd name="adj" fmla="val 3500"/>
            </a:avLst>
          </a:prstGeom>
          <a:noFill/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7623000" y="10584000"/>
            <a:ext cx="7065000" cy="28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7731000" y="10584000"/>
            <a:ext cx="6849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02  </a:t>
            </a:r>
            <a:r>
              <a:rPr sz="1050" b="1" i="0">
                <a:solidFill>
                  <a:srgbClr val="FFFFFF"/>
                </a:solidFill>
                <a:latin typeface="Segoe UI"/>
              </a:rPr>
              <a:t>NPC Behaviour &amp; Coordination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731000" y="10926000"/>
            <a:ext cx="3426524" cy="26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160"/>
              </a:spcAft>
            </a:pPr>
            <a:r>
              <a:rPr sz="800" b="1">
                <a:solidFill>
                  <a:srgbClr val="2A78D6"/>
                </a:solidFill>
                <a:latin typeface="Segoe UI"/>
              </a:rPr>
              <a:t>▪ </a:t>
            </a:r>
            <a:r>
              <a:rPr sz="736" b="1">
                <a:solidFill>
                  <a:srgbClr val="2A78D6"/>
                </a:solidFill>
                <a:latin typeface="Segoe UI"/>
              </a:rPr>
              <a:t>What: </a:t>
            </a:r>
            <a:r>
              <a:rPr sz="800" b="0">
                <a:solidFill>
                  <a:srgbClr val="2C2E33"/>
                </a:solidFill>
                <a:latin typeface="Segoe UI"/>
              </a:rPr>
              <a:t>Drives every terrorist &amp; hostage in-mission via an event-driven FSM plus a squad layer that shares confirmed contact and hunts around the last-seen point.</a:t>
            </a:r>
          </a:p>
          <a:p>
            <a:pPr>
              <a:lnSpc>
                <a:spcPct val="100000"/>
              </a:lnSpc>
              <a:spcAft>
                <a:spcPts val="160"/>
              </a:spcAft>
            </a:pPr>
            <a:r>
              <a:rPr sz="800" b="1">
                <a:solidFill>
                  <a:srgbClr val="2A78D6"/>
                </a:solidFill>
                <a:latin typeface="Segoe UI"/>
              </a:rPr>
              <a:t>▪ </a:t>
            </a:r>
            <a:r>
              <a:rPr sz="736" b="1">
                <a:solidFill>
                  <a:srgbClr val="2A78D6"/>
                </a:solidFill>
                <a:latin typeface="Segoe UI"/>
              </a:rPr>
              <a:t>Novelty: </a:t>
            </a:r>
            <a:r>
              <a:rPr sz="800" b="0">
                <a:solidFill>
                  <a:srgbClr val="2C2E33"/>
                </a:solidFill>
                <a:latin typeface="Segoe UI"/>
              </a:rPr>
              <a:t>Grounded in real U.S. Army react-to-contact doctrine and the F.E.A.R. squad-AI model, not game convention — trainees rated the Advanced tier most believable yet lost more missions against it (believability ≠ performance).</a:t>
            </a:r>
          </a:p>
          <a:p>
            <a:pPr>
              <a:lnSpc>
                <a:spcPct val="100000"/>
              </a:lnSpc>
              <a:spcAft>
                <a:spcPts val="160"/>
              </a:spcAft>
            </a:pPr>
            <a:r>
              <a:rPr sz="800" b="1">
                <a:solidFill>
                  <a:srgbClr val="2A78D6"/>
                </a:solidFill>
                <a:latin typeface="Segoe UI"/>
              </a:rPr>
              <a:t>▪ </a:t>
            </a:r>
            <a:r>
              <a:rPr sz="736" b="1">
                <a:solidFill>
                  <a:srgbClr val="2A78D6"/>
                </a:solidFill>
                <a:latin typeface="Segoe UI"/>
              </a:rPr>
              <a:t>Method: </a:t>
            </a:r>
            <a:r>
              <a:rPr sz="800" b="0">
                <a:solidFill>
                  <a:srgbClr val="2C2E33"/>
                </a:solidFill>
                <a:latin typeface="Segoe UI"/>
              </a:rPr>
              <a:t>Shared blackboard (PointLastSeen, hunt state, leader), growing search radius, hostage escalation ladder (warning → shot → execution); 3 switchable AI tiers.</a:t>
            </a:r>
          </a:p>
          <a:p>
            <a:pPr>
              <a:lnSpc>
                <a:spcPct val="100000"/>
              </a:lnSpc>
              <a:spcAft>
                <a:spcPts val="160"/>
              </a:spcAft>
            </a:pPr>
            <a:r>
              <a:rPr sz="800" b="1">
                <a:solidFill>
                  <a:srgbClr val="2A78D6"/>
                </a:solidFill>
                <a:latin typeface="Segoe UI"/>
              </a:rPr>
              <a:t>▪ </a:t>
            </a:r>
            <a:r>
              <a:rPr sz="736" b="1">
                <a:solidFill>
                  <a:srgbClr val="2A78D6"/>
                </a:solidFill>
                <a:latin typeface="Segoe UI"/>
              </a:rPr>
              <a:t>Evaluation: </a:t>
            </a:r>
            <a:r>
              <a:rPr sz="800" b="0">
                <a:solidFill>
                  <a:srgbClr val="2C2E33"/>
                </a:solidFill>
                <a:latin typeface="Segoe UI"/>
              </a:rPr>
              <a:t>Within-subjects ablation, 11 participants/45 sessions, Godspeed + UEQ-S instruments, Friedman/Wilcoxon.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7731000" y="13623840"/>
            <a:ext cx="1103774" cy="974160"/>
          </a:xfrm>
          <a:prstGeom prst="roundRect">
            <a:avLst>
              <a:gd name="adj" fmla="val 8000"/>
            </a:avLst>
          </a:prstGeom>
          <a:solidFill>
            <a:srgbClr val="EAF2FC"/>
          </a:solidFill>
          <a:ln w="635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7767000" y="13659840"/>
            <a:ext cx="1031774" cy="48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60" b="1" i="0">
                <a:solidFill>
                  <a:srgbClr val="0B3D78"/>
                </a:solidFill>
                <a:latin typeface="Segoe UI"/>
              </a:rPr>
              <a:t>1.6→3.7→4.4/5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767000" y="14110920"/>
            <a:ext cx="1031774" cy="48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560" b="0" i="0">
                <a:solidFill>
                  <a:srgbClr val="63676E"/>
                </a:solidFill>
                <a:latin typeface="Segoe UI"/>
              </a:rPr>
              <a:t>Perceived Intelligence, Basic→Intermediate→Advanced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8892375" y="13623840"/>
            <a:ext cx="1103774" cy="974160"/>
          </a:xfrm>
          <a:prstGeom prst="roundRect">
            <a:avLst>
              <a:gd name="adj" fmla="val 8000"/>
            </a:avLst>
          </a:prstGeom>
          <a:solidFill>
            <a:srgbClr val="EAF2FC"/>
          </a:solidFill>
          <a:ln w="635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8928375" y="13659840"/>
            <a:ext cx="1031774" cy="48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60" b="1" i="0">
                <a:solidFill>
                  <a:srgbClr val="0B3D78"/>
                </a:solidFill>
                <a:latin typeface="Segoe UI"/>
              </a:rPr>
              <a:t>p ≤ 0.004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8928375" y="14110920"/>
            <a:ext cx="1031774" cy="48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560" b="0" i="0">
                <a:solidFill>
                  <a:srgbClr val="63676E"/>
                </a:solidFill>
                <a:latin typeface="Segoe UI"/>
              </a:rPr>
              <a:t>Friedman, significant on all 3 believability constructs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0053750" y="13623840"/>
            <a:ext cx="1103774" cy="974160"/>
          </a:xfrm>
          <a:prstGeom prst="roundRect">
            <a:avLst>
              <a:gd name="adj" fmla="val 8000"/>
            </a:avLst>
          </a:prstGeom>
          <a:solidFill>
            <a:srgbClr val="EAF2FC"/>
          </a:solidFill>
          <a:ln w="635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0089750" y="13659840"/>
            <a:ext cx="1031774" cy="48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60" b="1" i="0">
                <a:solidFill>
                  <a:srgbClr val="0B3D78"/>
                </a:solidFill>
                <a:latin typeface="Segoe UI"/>
              </a:rPr>
              <a:t>11 &amp; 45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089750" y="14110920"/>
            <a:ext cx="1031774" cy="48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560" b="0" i="0">
                <a:solidFill>
                  <a:srgbClr val="63676E"/>
                </a:solidFill>
                <a:latin typeface="Segoe UI"/>
              </a:rPr>
              <a:t>participants &amp; sessions, within-subjects ablation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11265525" y="10926000"/>
            <a:ext cx="3422475" cy="15422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762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11299749" y="10972267"/>
            <a:ext cx="670805" cy="3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" b="1" i="0">
                <a:solidFill>
                  <a:srgbClr val="2A78D6"/>
                </a:solidFill>
                <a:latin typeface="Segoe UI"/>
              </a:rPr>
              <a:t>INDIVIDUAL LAYER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11299749" y="11079652"/>
            <a:ext cx="469563" cy="295310"/>
          </a:xfrm>
          <a:prstGeom prst="roundRect">
            <a:avLst>
              <a:gd name="adj" fmla="val 16000"/>
            </a:avLst>
          </a:prstGeom>
          <a:solidFill>
            <a:srgbClr val="636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1299749" y="11079652"/>
            <a:ext cx="469563" cy="295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490" b="1" i="0">
                <a:solidFill>
                  <a:srgbClr val="FFFFFF"/>
                </a:solidFill>
                <a:latin typeface="Segoe UI"/>
              </a:rPr>
              <a:t>Idle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11846455" y="11079652"/>
            <a:ext cx="469563" cy="295310"/>
          </a:xfrm>
          <a:prstGeom prst="roundRect">
            <a:avLst>
              <a:gd name="adj" fmla="val 16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11846455" y="11079652"/>
            <a:ext cx="469563" cy="295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490" b="1" i="0">
                <a:solidFill>
                  <a:srgbClr val="FFFFFF"/>
                </a:solidFill>
                <a:latin typeface="Segoe UI"/>
              </a:rPr>
              <a:t>Alert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12393162" y="11079652"/>
            <a:ext cx="519873" cy="295310"/>
          </a:xfrm>
          <a:prstGeom prst="roundRect">
            <a:avLst>
              <a:gd name="adj" fmla="val 16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12393162" y="11079652"/>
            <a:ext cx="519873" cy="295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490" b="1" i="0">
                <a:solidFill>
                  <a:srgbClr val="FFFFFF"/>
                </a:solidFill>
                <a:latin typeface="Segoe UI"/>
              </a:rPr>
              <a:t>Investigate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12990178" y="11079652"/>
            <a:ext cx="503103" cy="295310"/>
          </a:xfrm>
          <a:prstGeom prst="roundRect">
            <a:avLst>
              <a:gd name="adj" fmla="val 16000"/>
            </a:avLst>
          </a:prstGeom>
          <a:solidFill>
            <a:srgbClr val="0B3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12990178" y="11079652"/>
            <a:ext cx="503103" cy="295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490" b="1" i="0">
                <a:solidFill>
                  <a:srgbClr val="FFFFFF"/>
                </a:solidFill>
                <a:latin typeface="Segoe UI"/>
              </a:rPr>
              <a:t>Engage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13570425" y="11079652"/>
            <a:ext cx="536644" cy="295310"/>
          </a:xfrm>
          <a:prstGeom prst="roundRect">
            <a:avLst>
              <a:gd name="adj" fmla="val 16000"/>
            </a:avLst>
          </a:prstGeom>
          <a:solidFill>
            <a:srgbClr val="0B3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13570425" y="11079652"/>
            <a:ext cx="536644" cy="295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490" b="1" i="0">
                <a:solidFill>
                  <a:srgbClr val="FFFFFF"/>
                </a:solidFill>
                <a:latin typeface="Segoe UI"/>
              </a:rPr>
              <a:t>Cover /</a:t>
            </a:r>
          </a:p>
          <a:p>
            <a:pPr algn="ctr">
              <a:lnSpc>
                <a:spcPct val="90000"/>
              </a:lnSpc>
            </a:pPr>
            <a:r>
              <a:rPr sz="490" b="1" i="0">
                <a:solidFill>
                  <a:srgbClr val="FFFFFF"/>
                </a:solidFill>
                <a:latin typeface="Segoe UI"/>
              </a:rPr>
              <a:t>Retreat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14184211" y="11079652"/>
            <a:ext cx="469563" cy="295310"/>
          </a:xfrm>
          <a:prstGeom prst="roundRect">
            <a:avLst>
              <a:gd name="adj" fmla="val 16000"/>
            </a:avLst>
          </a:prstGeom>
          <a:solidFill>
            <a:srgbClr val="16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14184211" y="11079652"/>
            <a:ext cx="469563" cy="295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490" b="1" i="0">
                <a:solidFill>
                  <a:srgbClr val="FFFFFF"/>
                </a:solidFill>
                <a:latin typeface="Segoe UI"/>
              </a:rPr>
              <a:t>Down</a:t>
            </a:r>
          </a:p>
        </p:txBody>
      </p:sp>
      <p:cxnSp>
        <p:nvCxnSpPr>
          <p:cNvPr id="168" name="Connector 167"/>
          <p:cNvCxnSpPr/>
          <p:nvPr/>
        </p:nvCxnSpPr>
        <p:spPr>
          <a:xfrm>
            <a:off x="11769313" y="11227308"/>
            <a:ext cx="67080" cy="0"/>
          </a:xfrm>
          <a:prstGeom prst="line">
            <a:avLst/>
          </a:prstGeom>
          <a:ln w="6350">
            <a:solidFill>
              <a:srgbClr val="2C2E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12316019" y="11227308"/>
            <a:ext cx="67080" cy="0"/>
          </a:xfrm>
          <a:prstGeom prst="line">
            <a:avLst/>
          </a:prstGeom>
          <a:ln w="6350">
            <a:solidFill>
              <a:srgbClr val="2C2E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12913036" y="11227308"/>
            <a:ext cx="67080" cy="0"/>
          </a:xfrm>
          <a:prstGeom prst="line">
            <a:avLst/>
          </a:prstGeom>
          <a:ln w="6350">
            <a:solidFill>
              <a:srgbClr val="2C2E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13493282" y="11227308"/>
            <a:ext cx="67080" cy="0"/>
          </a:xfrm>
          <a:prstGeom prst="line">
            <a:avLst/>
          </a:prstGeom>
          <a:ln w="6350">
            <a:solidFill>
              <a:srgbClr val="2C2E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14107069" y="11227308"/>
            <a:ext cx="67080" cy="0"/>
          </a:xfrm>
          <a:prstGeom prst="line">
            <a:avLst/>
          </a:prstGeom>
          <a:ln w="6350">
            <a:solidFill>
              <a:srgbClr val="2C2E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TextBox 172"/>
          <p:cNvSpPr txBox="1"/>
          <p:nvPr/>
        </p:nvSpPr>
        <p:spPr>
          <a:xfrm>
            <a:off x="11299749" y="11487718"/>
            <a:ext cx="872046" cy="3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" b="1" i="0">
                <a:solidFill>
                  <a:srgbClr val="EB6834"/>
                </a:solidFill>
                <a:latin typeface="Segoe UI"/>
              </a:rPr>
              <a:t>SQUAD LAYER</a:t>
            </a:r>
          </a:p>
        </p:txBody>
      </p:sp>
      <p:sp>
        <p:nvSpPr>
          <p:cNvPr id="174" name="Rounded Rectangle 173"/>
          <p:cNvSpPr/>
          <p:nvPr/>
        </p:nvSpPr>
        <p:spPr>
          <a:xfrm>
            <a:off x="11299749" y="11578995"/>
            <a:ext cx="855276" cy="295310"/>
          </a:xfrm>
          <a:prstGeom prst="roundRect">
            <a:avLst>
              <a:gd name="adj" fmla="val 16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11299749" y="11578995"/>
            <a:ext cx="855276" cy="295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480" b="1" i="0">
                <a:solidFill>
                  <a:srgbClr val="FFFFFF"/>
                </a:solidFill>
                <a:latin typeface="Segoe UI"/>
              </a:rPr>
              <a:t>ReportConfirmed-</a:t>
            </a:r>
          </a:p>
          <a:p>
            <a:pPr algn="ctr">
              <a:lnSpc>
                <a:spcPct val="90000"/>
              </a:lnSpc>
            </a:pPr>
            <a:r>
              <a:rPr sz="480" b="1" i="0">
                <a:solidFill>
                  <a:srgbClr val="FFFFFF"/>
                </a:solidFill>
                <a:latin typeface="Segoe UI"/>
              </a:rPr>
              <a:t>Contact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12255647" y="11578995"/>
            <a:ext cx="788195" cy="295310"/>
          </a:xfrm>
          <a:prstGeom prst="roundRect">
            <a:avLst>
              <a:gd name="adj" fmla="val 16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12255647" y="11578995"/>
            <a:ext cx="788195" cy="295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480" b="1" i="0">
                <a:solidFill>
                  <a:srgbClr val="FFFFFF"/>
                </a:solidFill>
                <a:latin typeface="Segoe UI"/>
              </a:rPr>
              <a:t>BeginHunt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13144463" y="11578995"/>
            <a:ext cx="788195" cy="295310"/>
          </a:xfrm>
          <a:prstGeom prst="roundRect">
            <a:avLst>
              <a:gd name="adj" fmla="val 16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13144463" y="11578995"/>
            <a:ext cx="788195" cy="295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480" b="1" i="0">
                <a:solidFill>
                  <a:srgbClr val="FFFFFF"/>
                </a:solidFill>
                <a:latin typeface="Segoe UI"/>
              </a:rPr>
              <a:t>Radius grows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14033280" y="11578995"/>
            <a:ext cx="620494" cy="295310"/>
          </a:xfrm>
          <a:prstGeom prst="roundRect">
            <a:avLst>
              <a:gd name="adj" fmla="val 16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14033280" y="11578995"/>
            <a:ext cx="620494" cy="2953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480" b="1" i="0">
                <a:solidFill>
                  <a:srgbClr val="FFFFFF"/>
                </a:solidFill>
                <a:latin typeface="Segoe UI"/>
              </a:rPr>
              <a:t>EndHunt</a:t>
            </a:r>
          </a:p>
        </p:txBody>
      </p:sp>
      <p:cxnSp>
        <p:nvCxnSpPr>
          <p:cNvPr id="182" name="Connector 181"/>
          <p:cNvCxnSpPr/>
          <p:nvPr/>
        </p:nvCxnSpPr>
        <p:spPr>
          <a:xfrm>
            <a:off x="12155026" y="11726651"/>
            <a:ext cx="50310" cy="0"/>
          </a:xfrm>
          <a:prstGeom prst="line">
            <a:avLst/>
          </a:prstGeom>
          <a:ln w="6350">
            <a:solidFill>
              <a:srgbClr val="2C2E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13043843" y="11726651"/>
            <a:ext cx="50310" cy="0"/>
          </a:xfrm>
          <a:prstGeom prst="line">
            <a:avLst/>
          </a:prstGeom>
          <a:ln w="6350">
            <a:solidFill>
              <a:srgbClr val="2C2E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13932659" y="11726651"/>
            <a:ext cx="50311" cy="0"/>
          </a:xfrm>
          <a:prstGeom prst="line">
            <a:avLst/>
          </a:prstGeom>
          <a:ln w="6350">
            <a:solidFill>
              <a:srgbClr val="2C2E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H="1">
            <a:off x="13042165" y="11874306"/>
            <a:ext cx="1609933" cy="10738"/>
          </a:xfrm>
          <a:prstGeom prst="bentConnector3">
            <a:avLst/>
          </a:prstGeom>
          <a:ln w="6350">
            <a:solidFill>
              <a:srgbClr val="EB6834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TextBox 185"/>
          <p:cNvSpPr txBox="1"/>
          <p:nvPr/>
        </p:nvSpPr>
        <p:spPr>
          <a:xfrm>
            <a:off x="11299749" y="12207201"/>
            <a:ext cx="3354025" cy="37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70" b="0" i="0">
                <a:solidFill>
                  <a:srgbClr val="63676E"/>
                </a:solidFill>
                <a:latin typeface="Segoe UI"/>
              </a:rPr>
              <a:t>Sighting / gunshot / confirmed-target events drive all transitions; hunt radius grows until re-contact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11265525" y="12511439"/>
            <a:ext cx="3422475" cy="189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762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8" name="Picture 187" descr="fig_7_11_believability_by_ti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12734" y="12547439"/>
            <a:ext cx="2928055" cy="1823760"/>
          </a:xfrm>
          <a:prstGeom prst="rect">
            <a:avLst/>
          </a:prstGeom>
        </p:spPr>
      </p:pic>
      <p:sp>
        <p:nvSpPr>
          <p:cNvPr id="189" name="TextBox 188"/>
          <p:cNvSpPr txBox="1"/>
          <p:nvPr/>
        </p:nvSpPr>
        <p:spPr>
          <a:xfrm>
            <a:off x="11265525" y="14418000"/>
            <a:ext cx="3422475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" b="0" i="1">
                <a:solidFill>
                  <a:srgbClr val="63676E"/>
                </a:solidFill>
                <a:latin typeface="Segoe UI"/>
              </a:rPr>
              <a:t>Believability ratings rise significantly, Basic → Advanced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432000" y="14778000"/>
            <a:ext cx="7065000" cy="4068000"/>
          </a:xfrm>
          <a:prstGeom prst="roundRect">
            <a:avLst>
              <a:gd name="adj" fmla="val 3500"/>
            </a:avLst>
          </a:prstGeom>
          <a:noFill/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32000" y="14778000"/>
            <a:ext cx="7065000" cy="2880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540000" y="14778000"/>
            <a:ext cx="6849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03  </a:t>
            </a:r>
            <a:r>
              <a:rPr sz="1050" b="1" i="0">
                <a:solidFill>
                  <a:srgbClr val="FFFFFF"/>
                </a:solidFill>
                <a:latin typeface="Segoe UI"/>
              </a:rPr>
              <a:t>Cognitive &amp; Movement Behaviour Analysis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540000" y="15120000"/>
            <a:ext cx="3426524" cy="26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160"/>
              </a:spcAft>
            </a:pPr>
            <a:r>
              <a:rPr sz="800" b="1">
                <a:solidFill>
                  <a:srgbClr val="1BAF7A"/>
                </a:solidFill>
                <a:latin typeface="Segoe UI"/>
              </a:rPr>
              <a:t>▪ </a:t>
            </a:r>
            <a:r>
              <a:rPr sz="736" b="1">
                <a:solidFill>
                  <a:srgbClr val="1BAF7A"/>
                </a:solidFill>
                <a:latin typeface="Segoe UI"/>
              </a:rPr>
              <a:t>What: </a:t>
            </a:r>
            <a:r>
              <a:rPr sz="800" b="0">
                <a:solidFill>
                  <a:srgbClr val="2C2E33"/>
                </a:solidFill>
                <a:latin typeface="Segoe UI"/>
              </a:rPr>
              <a:t>Reads the trainee's existing XR head/hand tracking — no extra hardware — to derive movement telemetry and 4-channel reaction time (head, hands, body, trigger).</a:t>
            </a:r>
          </a:p>
          <a:p>
            <a:pPr>
              <a:lnSpc>
                <a:spcPct val="100000"/>
              </a:lnSpc>
              <a:spcAft>
                <a:spcPts val="160"/>
              </a:spcAft>
            </a:pPr>
            <a:r>
              <a:rPr sz="800" b="1">
                <a:solidFill>
                  <a:srgbClr val="1BAF7A"/>
                </a:solidFill>
                <a:latin typeface="Segoe UI"/>
              </a:rPr>
              <a:t>▪ </a:t>
            </a:r>
            <a:r>
              <a:rPr sz="736" b="1">
                <a:solidFill>
                  <a:srgbClr val="1BAF7A"/>
                </a:solidFill>
                <a:latin typeface="Segoe UI"/>
              </a:rPr>
              <a:t>Novelty: </a:t>
            </a:r>
            <a:r>
              <a:rPr sz="800" b="0">
                <a:solidFill>
                  <a:srgbClr val="2C2E33"/>
                </a:solidFill>
                <a:latin typeface="Segoe UI"/>
              </a:rPr>
              <a:t>Combines objective movement/reaction evidence with self-reported SIM-TLX workload in one honestly-tiered evaluation; a rule-based reasoning layer explains, not just reports, why a score is high or low.</a:t>
            </a:r>
          </a:p>
          <a:p>
            <a:pPr>
              <a:lnSpc>
                <a:spcPct val="100000"/>
              </a:lnSpc>
              <a:spcAft>
                <a:spcPts val="160"/>
              </a:spcAft>
            </a:pPr>
            <a:r>
              <a:rPr sz="800" b="1">
                <a:solidFill>
                  <a:srgbClr val="1BAF7A"/>
                </a:solidFill>
                <a:latin typeface="Segoe UI"/>
              </a:rPr>
              <a:t>▪ </a:t>
            </a:r>
            <a:r>
              <a:rPr sz="736" b="1">
                <a:solidFill>
                  <a:srgbClr val="1BAF7A"/>
                </a:solidFill>
                <a:latin typeface="Segoe UI"/>
              </a:rPr>
              <a:t>Method: </a:t>
            </a:r>
            <a:r>
              <a:rPr sz="800" b="0">
                <a:solidFill>
                  <a:srgbClr val="2C2E33"/>
                </a:solidFill>
                <a:latin typeface="Segoe UI"/>
              </a:rPr>
              <a:t>3 anti-false-positive rules (already-in-motion, 80 ms noise floor, response window+cooldown); 5 Hz sampling; self-calibrating crouch baseline; A/B/C confidence tiers.</a:t>
            </a:r>
          </a:p>
          <a:p>
            <a:pPr>
              <a:lnSpc>
                <a:spcPct val="100000"/>
              </a:lnSpc>
              <a:spcAft>
                <a:spcPts val="160"/>
              </a:spcAft>
            </a:pPr>
            <a:r>
              <a:rPr sz="800" b="1">
                <a:solidFill>
                  <a:srgbClr val="1BAF7A"/>
                </a:solidFill>
                <a:latin typeface="Segoe UI"/>
              </a:rPr>
              <a:t>▪ </a:t>
            </a:r>
            <a:r>
              <a:rPr sz="736" b="1">
                <a:solidFill>
                  <a:srgbClr val="1BAF7A"/>
                </a:solidFill>
                <a:latin typeface="Segoe UI"/>
              </a:rPr>
              <a:t>Evaluation: </a:t>
            </a:r>
            <a:r>
              <a:rPr sz="800" b="0">
                <a:solidFill>
                  <a:srgbClr val="2C2E33"/>
                </a:solidFill>
                <a:latin typeface="Segoe UI"/>
              </a:rPr>
              <a:t>Construct-validity audit of 12 benchmark bands (4 tier A / 5 B / 3 C); one-sample Wilcoxon vs published expert.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540000" y="17817840"/>
            <a:ext cx="1103774" cy="974160"/>
          </a:xfrm>
          <a:prstGeom prst="roundRect">
            <a:avLst>
              <a:gd name="adj" fmla="val 8000"/>
            </a:avLst>
          </a:prstGeom>
          <a:solidFill>
            <a:srgbClr val="E6F7F0"/>
          </a:solidFill>
          <a:ln w="635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576000" y="17853840"/>
            <a:ext cx="1031774" cy="48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60" b="1" i="0">
                <a:solidFill>
                  <a:srgbClr val="0B3D78"/>
                </a:solidFill>
                <a:latin typeface="Segoe UI"/>
              </a:rPr>
              <a:t>4 / 5 / 3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576000" y="18304920"/>
            <a:ext cx="1031774" cy="48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560" b="0" i="0">
                <a:solidFill>
                  <a:srgbClr val="63676E"/>
                </a:solidFill>
                <a:latin typeface="Segoe UI"/>
              </a:rPr>
              <a:t>metrics at tier A (direct) / B (proxy) / C (no benchmark)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1701375" y="17817840"/>
            <a:ext cx="1103774" cy="974160"/>
          </a:xfrm>
          <a:prstGeom prst="roundRect">
            <a:avLst>
              <a:gd name="adj" fmla="val 8000"/>
            </a:avLst>
          </a:prstGeom>
          <a:solidFill>
            <a:srgbClr val="E6F7F0"/>
          </a:solidFill>
          <a:ln w="635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1737375" y="17853840"/>
            <a:ext cx="1031774" cy="48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60" b="1" i="0">
                <a:solidFill>
                  <a:srgbClr val="0B3D78"/>
                </a:solidFill>
                <a:latin typeface="Segoe UI"/>
              </a:rPr>
              <a:t>0.65s vs 0.30s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1737375" y="18304920"/>
            <a:ext cx="1031774" cy="48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560" b="0" i="0">
                <a:solidFill>
                  <a:srgbClr val="63676E"/>
                </a:solidFill>
                <a:latin typeface="Segoe UI"/>
              </a:rPr>
              <a:t>mean RT vs published expert (p&lt;0.001, r=0.67)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2862750" y="17817840"/>
            <a:ext cx="1103774" cy="974160"/>
          </a:xfrm>
          <a:prstGeom prst="roundRect">
            <a:avLst>
              <a:gd name="adj" fmla="val 8000"/>
            </a:avLst>
          </a:prstGeom>
          <a:solidFill>
            <a:srgbClr val="E6F7F0"/>
          </a:solidFill>
          <a:ln w="635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2898750" y="17853840"/>
            <a:ext cx="1031774" cy="48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60" b="1" i="0">
                <a:solidFill>
                  <a:srgbClr val="0B3D78"/>
                </a:solidFill>
                <a:latin typeface="Segoe UI"/>
              </a:rPr>
              <a:t>5 Hz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2898750" y="18304920"/>
            <a:ext cx="1031774" cy="48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560" b="0" i="0">
                <a:solidFill>
                  <a:srgbClr val="63676E"/>
                </a:solidFill>
                <a:latin typeface="Segoe UI"/>
              </a:rPr>
              <a:t>movement sampling, zero added hardware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4074524" y="15120000"/>
            <a:ext cx="3422475" cy="15422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762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4226140" y="15181689"/>
            <a:ext cx="570184" cy="35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59" b="1" i="0">
                <a:solidFill>
                  <a:srgbClr val="1BAF7A"/>
                </a:solidFill>
                <a:latin typeface="Segoe UI"/>
              </a:rPr>
              <a:t>INPUT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4226140" y="15359047"/>
            <a:ext cx="570184" cy="532072"/>
          </a:xfrm>
          <a:prstGeom prst="roundRect">
            <a:avLst>
              <a:gd name="adj" fmla="val 14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4226140" y="15394518"/>
            <a:ext cx="570184" cy="4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" b="1" i="0">
                <a:solidFill>
                  <a:srgbClr val="FFFFFF"/>
                </a:solidFill>
                <a:latin typeface="Segoe UI"/>
              </a:rPr>
              <a:t>XR Tracking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4226140" y="15479650"/>
            <a:ext cx="570184" cy="99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59" b="0" i="0">
                <a:solidFill>
                  <a:srgbClr val="EAFFF5"/>
                </a:solidFill>
                <a:latin typeface="Segoe UI"/>
              </a:rPr>
              <a:t>Head / hand / body</a:t>
            </a:r>
          </a:p>
          <a:p>
            <a:pPr algn="ctr">
              <a:lnSpc>
                <a:spcPct val="100000"/>
              </a:lnSpc>
            </a:pPr>
            <a:r>
              <a:rPr sz="459" b="0" i="0">
                <a:solidFill>
                  <a:srgbClr val="EAFFF5"/>
                </a:solidFill>
                <a:latin typeface="Segoe UI"/>
              </a:rPr>
              <a:t>+ trigger pressure</a:t>
            </a:r>
          </a:p>
        </p:txBody>
      </p:sp>
      <p:cxnSp>
        <p:nvCxnSpPr>
          <p:cNvPr id="208" name="Connector 207"/>
          <p:cNvCxnSpPr/>
          <p:nvPr/>
        </p:nvCxnSpPr>
        <p:spPr>
          <a:xfrm>
            <a:off x="4796324" y="15625083"/>
            <a:ext cx="57019" cy="0"/>
          </a:xfrm>
          <a:prstGeom prst="line">
            <a:avLst/>
          </a:prstGeom>
          <a:ln w="6350">
            <a:solidFill>
              <a:srgbClr val="2C2E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TextBox 208"/>
          <p:cNvSpPr txBox="1"/>
          <p:nvPr/>
        </p:nvSpPr>
        <p:spPr>
          <a:xfrm>
            <a:off x="4863405" y="15181689"/>
            <a:ext cx="570184" cy="35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59" b="1" i="0">
                <a:solidFill>
                  <a:srgbClr val="63676E"/>
                </a:solidFill>
                <a:latin typeface="Segoe UI"/>
              </a:rPr>
              <a:t>PROCESS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4863405" y="15359047"/>
            <a:ext cx="570184" cy="532072"/>
          </a:xfrm>
          <a:prstGeom prst="roundRect">
            <a:avLst>
              <a:gd name="adj" fmla="val 14000"/>
            </a:avLst>
          </a:prstGeom>
          <a:solidFill>
            <a:srgbClr val="636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4863405" y="15394518"/>
            <a:ext cx="570184" cy="4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" b="1" i="0">
                <a:solidFill>
                  <a:srgbClr val="FFFFFF"/>
                </a:solidFill>
                <a:latin typeface="Segoe UI"/>
              </a:rPr>
              <a:t>Extract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4863405" y="15479650"/>
            <a:ext cx="570184" cy="99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59" b="0" i="0">
                <a:solidFill>
                  <a:srgbClr val="ECEEF1"/>
                </a:solidFill>
                <a:latin typeface="Segoe UI"/>
              </a:rPr>
              <a:t>4-channel reaction time</a:t>
            </a:r>
          </a:p>
          <a:p>
            <a:pPr algn="ctr">
              <a:lnSpc>
                <a:spcPct val="100000"/>
              </a:lnSpc>
            </a:pPr>
            <a:r>
              <a:rPr sz="459" b="0" i="0">
                <a:solidFill>
                  <a:srgbClr val="ECEEF1"/>
                </a:solidFill>
                <a:latin typeface="Segoe UI"/>
              </a:rPr>
              <a:t>5 Hz movement sampling</a:t>
            </a:r>
          </a:p>
        </p:txBody>
      </p:sp>
      <p:cxnSp>
        <p:nvCxnSpPr>
          <p:cNvPr id="213" name="Connector 212"/>
          <p:cNvCxnSpPr/>
          <p:nvPr/>
        </p:nvCxnSpPr>
        <p:spPr>
          <a:xfrm>
            <a:off x="5433589" y="15625083"/>
            <a:ext cx="57019" cy="0"/>
          </a:xfrm>
          <a:prstGeom prst="line">
            <a:avLst/>
          </a:prstGeom>
          <a:ln w="6350">
            <a:solidFill>
              <a:srgbClr val="2C2E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TextBox 213"/>
          <p:cNvSpPr txBox="1"/>
          <p:nvPr/>
        </p:nvSpPr>
        <p:spPr>
          <a:xfrm>
            <a:off x="5500670" y="15181689"/>
            <a:ext cx="570184" cy="35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59" b="1" i="0">
                <a:solidFill>
                  <a:srgbClr val="63676E"/>
                </a:solidFill>
                <a:latin typeface="Segoe UI"/>
              </a:rPr>
              <a:t>PROCESS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5500670" y="15359047"/>
            <a:ext cx="570184" cy="532072"/>
          </a:xfrm>
          <a:prstGeom prst="roundRect">
            <a:avLst>
              <a:gd name="adj" fmla="val 14000"/>
            </a:avLst>
          </a:prstGeom>
          <a:solidFill>
            <a:srgbClr val="636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5500670" y="15394518"/>
            <a:ext cx="570184" cy="4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" b="1" i="0">
                <a:solidFill>
                  <a:srgbClr val="FFFFFF"/>
                </a:solidFill>
                <a:latin typeface="Segoe UI"/>
              </a:rPr>
              <a:t>Interpret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5500670" y="15479650"/>
            <a:ext cx="570184" cy="99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59" b="0" i="0">
                <a:solidFill>
                  <a:srgbClr val="ECEEF1"/>
                </a:solidFill>
                <a:latin typeface="Segoe UI"/>
              </a:rPr>
              <a:t>Rule-based scoring vs</a:t>
            </a:r>
          </a:p>
          <a:p>
            <a:pPr algn="ctr">
              <a:lnSpc>
                <a:spcPct val="100000"/>
              </a:lnSpc>
            </a:pPr>
            <a:r>
              <a:rPr sz="459" b="0" i="0">
                <a:solidFill>
                  <a:srgbClr val="ECEEF1"/>
                </a:solidFill>
                <a:latin typeface="Segoe UI"/>
              </a:rPr>
              <a:t>A/B/C benchmark bands</a:t>
            </a:r>
          </a:p>
        </p:txBody>
      </p:sp>
      <p:cxnSp>
        <p:nvCxnSpPr>
          <p:cNvPr id="218" name="Connector 217"/>
          <p:cNvCxnSpPr/>
          <p:nvPr/>
        </p:nvCxnSpPr>
        <p:spPr>
          <a:xfrm>
            <a:off x="6070854" y="15625083"/>
            <a:ext cx="57019" cy="0"/>
          </a:xfrm>
          <a:prstGeom prst="line">
            <a:avLst/>
          </a:prstGeom>
          <a:ln w="6350">
            <a:solidFill>
              <a:srgbClr val="2C2E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TextBox 218"/>
          <p:cNvSpPr txBox="1"/>
          <p:nvPr/>
        </p:nvSpPr>
        <p:spPr>
          <a:xfrm>
            <a:off x="6137935" y="15181689"/>
            <a:ext cx="570184" cy="35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59" b="1" i="0">
                <a:solidFill>
                  <a:srgbClr val="63676E"/>
                </a:solidFill>
                <a:latin typeface="Segoe UI"/>
              </a:rPr>
              <a:t>PROCESS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6137935" y="15359047"/>
            <a:ext cx="570184" cy="532072"/>
          </a:xfrm>
          <a:prstGeom prst="roundRect">
            <a:avLst>
              <a:gd name="adj" fmla="val 14000"/>
            </a:avLst>
          </a:prstGeom>
          <a:solidFill>
            <a:srgbClr val="636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6137935" y="15394518"/>
            <a:ext cx="570184" cy="4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" b="1" i="0">
                <a:solidFill>
                  <a:srgbClr val="FFFFFF"/>
                </a:solidFill>
                <a:latin typeface="Segoe UI"/>
              </a:rPr>
              <a:t>Score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6137935" y="15479650"/>
            <a:ext cx="570184" cy="99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59" b="0" i="0">
                <a:solidFill>
                  <a:srgbClr val="ECEEF1"/>
                </a:solidFill>
                <a:latin typeface="Segoe UI"/>
              </a:rPr>
              <a:t>+ SIM-TLX self-report</a:t>
            </a:r>
          </a:p>
          <a:p>
            <a:pPr algn="ctr">
              <a:lnSpc>
                <a:spcPct val="100000"/>
              </a:lnSpc>
            </a:pPr>
            <a:r>
              <a:rPr sz="459" b="0" i="0">
                <a:solidFill>
                  <a:srgbClr val="ECEEF1"/>
                </a:solidFill>
                <a:latin typeface="Segoe UI"/>
              </a:rPr>
              <a:t>confidence tiering</a:t>
            </a:r>
          </a:p>
        </p:txBody>
      </p:sp>
      <p:cxnSp>
        <p:nvCxnSpPr>
          <p:cNvPr id="223" name="Connector 222"/>
          <p:cNvCxnSpPr/>
          <p:nvPr/>
        </p:nvCxnSpPr>
        <p:spPr>
          <a:xfrm>
            <a:off x="6708119" y="15625083"/>
            <a:ext cx="57018" cy="0"/>
          </a:xfrm>
          <a:prstGeom prst="line">
            <a:avLst/>
          </a:prstGeom>
          <a:ln w="6350">
            <a:solidFill>
              <a:srgbClr val="2C2E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4" name="TextBox 223"/>
          <p:cNvSpPr txBox="1"/>
          <p:nvPr/>
        </p:nvSpPr>
        <p:spPr>
          <a:xfrm>
            <a:off x="6775200" y="15181689"/>
            <a:ext cx="570184" cy="35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59" b="1" i="0">
                <a:solidFill>
                  <a:srgbClr val="1BAF7A"/>
                </a:solidFill>
                <a:latin typeface="Segoe UI"/>
              </a:rPr>
              <a:t>OUTPUT</a:t>
            </a:r>
          </a:p>
        </p:txBody>
      </p:sp>
      <p:sp>
        <p:nvSpPr>
          <p:cNvPr id="225" name="Rounded Rectangle 224"/>
          <p:cNvSpPr/>
          <p:nvPr/>
        </p:nvSpPr>
        <p:spPr>
          <a:xfrm>
            <a:off x="6775200" y="15359047"/>
            <a:ext cx="570184" cy="532072"/>
          </a:xfrm>
          <a:prstGeom prst="roundRect">
            <a:avLst>
              <a:gd name="adj" fmla="val 14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6775200" y="15394518"/>
            <a:ext cx="570184" cy="4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" b="1" i="0">
                <a:solidFill>
                  <a:srgbClr val="FFFFFF"/>
                </a:solidFill>
                <a:latin typeface="Segoe UI"/>
              </a:rPr>
              <a:t>Indicators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6775200" y="15479650"/>
            <a:ext cx="570184" cy="99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59" b="0" i="0">
                <a:solidFill>
                  <a:srgbClr val="EAFFF5"/>
                </a:solidFill>
                <a:latin typeface="Segoe UI"/>
              </a:rPr>
              <a:t>Cognitive load +</a:t>
            </a:r>
          </a:p>
          <a:p>
            <a:pPr algn="ctr">
              <a:lnSpc>
                <a:spcPct val="100000"/>
              </a:lnSpc>
            </a:pPr>
            <a:r>
              <a:rPr sz="459" b="0" i="0">
                <a:solidFill>
                  <a:srgbClr val="EAFFF5"/>
                </a:solidFill>
                <a:latin typeface="Segoe UI"/>
              </a:rPr>
              <a:t>workload profile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4108749" y="15976251"/>
            <a:ext cx="3354025" cy="709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59" b="0" i="0">
                <a:solidFill>
                  <a:srgbClr val="63676E"/>
                </a:solidFill>
                <a:latin typeface="Segoe UI"/>
              </a:rPr>
              <a:t>Reads existing XR tracking (zero added hardware) at 5 Hz; A/B/C tiers = direct benchmark / literature proxy / exploratory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4074524" y="16705439"/>
            <a:ext cx="3422475" cy="189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762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0" name="Picture 229" descr="fig_7_14_reaction_time_per_participan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9602" y="16741439"/>
            <a:ext cx="2932320" cy="1823760"/>
          </a:xfrm>
          <a:prstGeom prst="rect">
            <a:avLst/>
          </a:prstGeom>
        </p:spPr>
      </p:pic>
      <p:sp>
        <p:nvSpPr>
          <p:cNvPr id="231" name="TextBox 230"/>
          <p:cNvSpPr txBox="1"/>
          <p:nvPr/>
        </p:nvSpPr>
        <p:spPr>
          <a:xfrm>
            <a:off x="4074524" y="18612000"/>
            <a:ext cx="3422475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" b="0" i="1">
                <a:solidFill>
                  <a:srgbClr val="63676E"/>
                </a:solidFill>
                <a:latin typeface="Segoe UI"/>
              </a:rPr>
              <a:t>Mean reaction time per participant vs published expert/novice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7623000" y="14778000"/>
            <a:ext cx="7065000" cy="4068000"/>
          </a:xfrm>
          <a:prstGeom prst="roundRect">
            <a:avLst>
              <a:gd name="adj" fmla="val 3500"/>
            </a:avLst>
          </a:prstGeom>
          <a:noFill/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7623000" y="14778000"/>
            <a:ext cx="7065000" cy="288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7731000" y="14778000"/>
            <a:ext cx="6849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04  </a:t>
            </a:r>
            <a:r>
              <a:rPr sz="1050" b="1" i="0">
                <a:solidFill>
                  <a:srgbClr val="FFFFFF"/>
                </a:solidFill>
                <a:latin typeface="Segoe UI"/>
              </a:rPr>
              <a:t>Logging, AAR &amp; Session Replay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7731000" y="15120000"/>
            <a:ext cx="3426524" cy="2643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Aft>
                <a:spcPts val="160"/>
              </a:spcAft>
            </a:pPr>
            <a:r>
              <a:rPr sz="800" b="1">
                <a:solidFill>
                  <a:srgbClr val="EB6834"/>
                </a:solidFill>
                <a:latin typeface="Segoe UI"/>
              </a:rPr>
              <a:t>▪ </a:t>
            </a:r>
            <a:r>
              <a:rPr sz="736" b="1">
                <a:solidFill>
                  <a:srgbClr val="EB6834"/>
                </a:solidFill>
                <a:latin typeface="Segoe UI"/>
              </a:rPr>
              <a:t>What: </a:t>
            </a:r>
            <a:r>
              <a:rPr sz="800" b="0">
                <a:solidFill>
                  <a:srgbClr val="2C2E33"/>
                </a:solidFill>
                <a:latin typeface="Segoe UI"/>
              </a:rPr>
              <a:t>Subscribes to one shared event bus and turns a completed mission into inspectable evidence — five scores, an incident timeline, a distress index, and a 2D/3D replay.</a:t>
            </a:r>
          </a:p>
          <a:p>
            <a:pPr>
              <a:lnSpc>
                <a:spcPct val="100000"/>
              </a:lnSpc>
              <a:spcAft>
                <a:spcPts val="160"/>
              </a:spcAft>
            </a:pPr>
            <a:r>
              <a:rPr sz="800" b="1">
                <a:solidFill>
                  <a:srgbClr val="EB6834"/>
                </a:solidFill>
                <a:latin typeface="Segoe UI"/>
              </a:rPr>
              <a:t>▪ </a:t>
            </a:r>
            <a:r>
              <a:rPr sz="736" b="1">
                <a:solidFill>
                  <a:srgbClr val="EB6834"/>
                </a:solidFill>
                <a:latin typeface="Segoe UI"/>
              </a:rPr>
              <a:t>Novelty: </a:t>
            </a:r>
            <a:r>
              <a:rPr sz="800" b="0">
                <a:solidFill>
                  <a:srgbClr val="2C2E33"/>
                </a:solidFill>
                <a:latin typeface="Segoe UI"/>
              </a:rPr>
              <a:t>A distinct Operator Safety axis (separate from mission outcome) plus a hostage psychological distress index — dimensions most commercial/academic AAR tools omit entirely.</a:t>
            </a:r>
          </a:p>
          <a:p>
            <a:pPr>
              <a:lnSpc>
                <a:spcPct val="100000"/>
              </a:lnSpc>
              <a:spcAft>
                <a:spcPts val="160"/>
              </a:spcAft>
            </a:pPr>
            <a:r>
              <a:rPr sz="800" b="1">
                <a:solidFill>
                  <a:srgbClr val="EB6834"/>
                </a:solidFill>
                <a:latin typeface="Segoe UI"/>
              </a:rPr>
              <a:t>▪ </a:t>
            </a:r>
            <a:r>
              <a:rPr sz="736" b="1">
                <a:solidFill>
                  <a:srgbClr val="EB6834"/>
                </a:solidFill>
                <a:latin typeface="Segoe UI"/>
              </a:rPr>
              <a:t>Method: </a:t>
            </a:r>
            <a:r>
              <a:rPr sz="800" b="0">
                <a:solidFill>
                  <a:srgbClr val="2C2E33"/>
                </a:solidFill>
                <a:latin typeface="Segoe UI"/>
              </a:rPr>
              <a:t>Scores calibrated to NYPD SOP-9, RAND hostage-rescue outcomes &amp; Hick's Law; Freeze scored above Panic (tonic immobility → worse trauma outcomes); zero-instrumentation logging.</a:t>
            </a:r>
          </a:p>
          <a:p>
            <a:pPr>
              <a:lnSpc>
                <a:spcPct val="100000"/>
              </a:lnSpc>
              <a:spcAft>
                <a:spcPts val="160"/>
              </a:spcAft>
            </a:pPr>
            <a:r>
              <a:rPr sz="800" b="1">
                <a:solidFill>
                  <a:srgbClr val="EB6834"/>
                </a:solidFill>
                <a:latin typeface="Segoe UI"/>
              </a:rPr>
              <a:t>▪ </a:t>
            </a:r>
            <a:r>
              <a:rPr sz="736" b="1">
                <a:solidFill>
                  <a:srgbClr val="EB6834"/>
                </a:solidFill>
                <a:latin typeface="Segoe UI"/>
              </a:rPr>
              <a:t>Evaluation: </a:t>
            </a:r>
            <a:r>
              <a:rPr sz="800" b="0">
                <a:solidFill>
                  <a:srgbClr val="2C2E33"/>
                </a:solidFill>
                <a:latin typeface="Segoe UI"/>
              </a:rPr>
              <a:t>Construct-validity audit vs the Expert Value Table; benchmark + discriminant-validity tests across 11 trainees.</a:t>
            </a:r>
          </a:p>
        </p:txBody>
      </p:sp>
      <p:sp>
        <p:nvSpPr>
          <p:cNvPr id="236" name="Rounded Rectangle 235"/>
          <p:cNvSpPr/>
          <p:nvPr/>
        </p:nvSpPr>
        <p:spPr>
          <a:xfrm>
            <a:off x="7731000" y="17817840"/>
            <a:ext cx="1103774" cy="974160"/>
          </a:xfrm>
          <a:prstGeom prst="roundRect">
            <a:avLst>
              <a:gd name="adj" fmla="val 8000"/>
            </a:avLst>
          </a:prstGeom>
          <a:solidFill>
            <a:srgbClr val="FDECE3"/>
          </a:solidFill>
          <a:ln w="635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7767000" y="17853840"/>
            <a:ext cx="1031774" cy="48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60" b="1" i="0">
                <a:solidFill>
                  <a:srgbClr val="B74D1F"/>
                </a:solidFill>
                <a:latin typeface="Segoe UI"/>
              </a:rPr>
              <a:t>52% vs 85%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7767000" y="18304920"/>
            <a:ext cx="1031774" cy="48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560" b="0" i="0">
                <a:solidFill>
                  <a:srgbClr val="63676E"/>
                </a:solidFill>
                <a:latin typeface="Segoe UI"/>
              </a:rPr>
              <a:t>Hostage Safety vs published expert (p&lt;0.001)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8892375" y="17817840"/>
            <a:ext cx="1103774" cy="974160"/>
          </a:xfrm>
          <a:prstGeom prst="roundRect">
            <a:avLst>
              <a:gd name="adj" fmla="val 8000"/>
            </a:avLst>
          </a:prstGeom>
          <a:solidFill>
            <a:srgbClr val="FDECE3"/>
          </a:solidFill>
          <a:ln w="635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8928375" y="17853840"/>
            <a:ext cx="1031774" cy="48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60" b="1" i="0">
                <a:solidFill>
                  <a:srgbClr val="B74D1F"/>
                </a:solidFill>
                <a:latin typeface="Segoe UI"/>
              </a:rPr>
              <a:t>68% vs 100%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8928375" y="18304920"/>
            <a:ext cx="1031774" cy="48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560" b="0" i="0">
                <a:solidFill>
                  <a:srgbClr val="63676E"/>
                </a:solidFill>
                <a:latin typeface="Segoe UI"/>
              </a:rPr>
              <a:t>Accuracy vs distance-normalised expert (p&lt;0.001)</a:t>
            </a:r>
          </a:p>
        </p:txBody>
      </p:sp>
      <p:sp>
        <p:nvSpPr>
          <p:cNvPr id="242" name="Rounded Rectangle 241"/>
          <p:cNvSpPr/>
          <p:nvPr/>
        </p:nvSpPr>
        <p:spPr>
          <a:xfrm>
            <a:off x="10053750" y="17817840"/>
            <a:ext cx="1103774" cy="974160"/>
          </a:xfrm>
          <a:prstGeom prst="roundRect">
            <a:avLst>
              <a:gd name="adj" fmla="val 8000"/>
            </a:avLst>
          </a:prstGeom>
          <a:solidFill>
            <a:srgbClr val="FDECE3"/>
          </a:solidFill>
          <a:ln w="635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10089750" y="17853840"/>
            <a:ext cx="1031774" cy="48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60" b="1" i="0">
                <a:solidFill>
                  <a:srgbClr val="B74D1F"/>
                </a:solidFill>
                <a:latin typeface="Segoe UI"/>
              </a:rPr>
              <a:t>F=4.22, p=.003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10089750" y="18304920"/>
            <a:ext cx="1031774" cy="48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560" b="0" i="0">
                <a:solidFill>
                  <a:srgbClr val="63676E"/>
                </a:solidFill>
                <a:latin typeface="Segoe UI"/>
              </a:rPr>
              <a:t>Operator Safety separates trainees most strongly</a:t>
            </a:r>
          </a:p>
        </p:txBody>
      </p:sp>
      <p:sp>
        <p:nvSpPr>
          <p:cNvPr id="245" name="Rounded Rectangle 244"/>
          <p:cNvSpPr/>
          <p:nvPr/>
        </p:nvSpPr>
        <p:spPr>
          <a:xfrm>
            <a:off x="11265525" y="15120000"/>
            <a:ext cx="3422475" cy="15422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762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ounded Rectangle 245"/>
          <p:cNvSpPr/>
          <p:nvPr/>
        </p:nvSpPr>
        <p:spPr>
          <a:xfrm>
            <a:off x="11786083" y="15256873"/>
            <a:ext cx="670805" cy="302022"/>
          </a:xfrm>
          <a:prstGeom prst="roundRect">
            <a:avLst>
              <a:gd name="adj" fmla="val 16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11786083" y="15256873"/>
            <a:ext cx="670805" cy="3020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520" b="1" i="0">
                <a:solidFill>
                  <a:srgbClr val="FFFFFF"/>
                </a:solidFill>
                <a:latin typeface="Segoe UI"/>
              </a:rPr>
              <a:t>Mission Events</a:t>
            </a:r>
          </a:p>
          <a:p>
            <a:pPr algn="ctr">
              <a:lnSpc>
                <a:spcPct val="90000"/>
              </a:lnSpc>
            </a:pPr>
            <a:r>
              <a:rPr sz="520" b="1" i="0">
                <a:solidFill>
                  <a:srgbClr val="FFFFFF"/>
                </a:solidFill>
                <a:latin typeface="Segoe UI"/>
              </a:rPr>
              <a:t>(M2)</a:t>
            </a:r>
          </a:p>
        </p:txBody>
      </p:sp>
      <p:sp>
        <p:nvSpPr>
          <p:cNvPr id="248" name="Rounded Rectangle 247"/>
          <p:cNvSpPr/>
          <p:nvPr/>
        </p:nvSpPr>
        <p:spPr>
          <a:xfrm>
            <a:off x="12557509" y="15256873"/>
            <a:ext cx="771425" cy="302022"/>
          </a:xfrm>
          <a:prstGeom prst="roundRect">
            <a:avLst>
              <a:gd name="adj" fmla="val 16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12557509" y="15256873"/>
            <a:ext cx="771425" cy="3020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520" b="1" i="0">
                <a:solidFill>
                  <a:srgbClr val="FFFFFF"/>
                </a:solidFill>
                <a:latin typeface="Segoe UI"/>
              </a:rPr>
              <a:t>Cognitive Outputs</a:t>
            </a:r>
          </a:p>
          <a:p>
            <a:pPr algn="ctr">
              <a:lnSpc>
                <a:spcPct val="90000"/>
              </a:lnSpc>
            </a:pPr>
            <a:r>
              <a:rPr sz="520" b="1" i="0">
                <a:solidFill>
                  <a:srgbClr val="FFFFFF"/>
                </a:solidFill>
                <a:latin typeface="Segoe UI"/>
              </a:rPr>
              <a:t>(M3)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13429555" y="15256873"/>
            <a:ext cx="737885" cy="302022"/>
          </a:xfrm>
          <a:prstGeom prst="roundRect">
            <a:avLst>
              <a:gd name="adj" fmla="val 16000"/>
            </a:avLst>
          </a:prstGeom>
          <a:solidFill>
            <a:srgbClr val="0B3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13429555" y="15256873"/>
            <a:ext cx="737885" cy="3020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520" b="1" i="0">
                <a:solidFill>
                  <a:srgbClr val="FFFFFF"/>
                </a:solidFill>
                <a:latin typeface="Segoe UI"/>
              </a:rPr>
              <a:t>Scenario Context</a:t>
            </a:r>
          </a:p>
          <a:p>
            <a:pPr algn="ctr">
              <a:lnSpc>
                <a:spcPct val="90000"/>
              </a:lnSpc>
            </a:pPr>
            <a:r>
              <a:rPr sz="520" b="1" i="0">
                <a:solidFill>
                  <a:srgbClr val="FFFFFF"/>
                </a:solidFill>
                <a:latin typeface="Segoe UI"/>
              </a:rPr>
              <a:t>(M1)</a:t>
            </a:r>
          </a:p>
        </p:txBody>
      </p:sp>
      <p:sp>
        <p:nvSpPr>
          <p:cNvPr id="252" name="Rounded Rectangle 251"/>
          <p:cNvSpPr/>
          <p:nvPr/>
        </p:nvSpPr>
        <p:spPr>
          <a:xfrm>
            <a:off x="12473658" y="15709906"/>
            <a:ext cx="1006207" cy="302022"/>
          </a:xfrm>
          <a:prstGeom prst="roundRect">
            <a:avLst>
              <a:gd name="adj" fmla="val 18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12473658" y="15709906"/>
            <a:ext cx="1006207" cy="3020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580" b="1" i="0">
                <a:solidFill>
                  <a:srgbClr val="FFFFFF"/>
                </a:solidFill>
                <a:latin typeface="Segoe UI"/>
              </a:rPr>
              <a:t>LOGGING</a:t>
            </a:r>
          </a:p>
          <a:p>
            <a:pPr algn="ctr">
              <a:lnSpc>
                <a:spcPct val="95000"/>
              </a:lnSpc>
            </a:pPr>
            <a:r>
              <a:rPr sz="580" b="1" i="0">
                <a:solidFill>
                  <a:srgbClr val="FFFFFF"/>
                </a:solidFill>
                <a:latin typeface="Segoe UI"/>
              </a:rPr>
              <a:t>ENGINE</a:t>
            </a:r>
          </a:p>
        </p:txBody>
      </p:sp>
      <p:cxnSp>
        <p:nvCxnSpPr>
          <p:cNvPr id="254" name="Connector 253"/>
          <p:cNvCxnSpPr/>
          <p:nvPr/>
        </p:nvCxnSpPr>
        <p:spPr>
          <a:xfrm>
            <a:off x="12121485" y="15558895"/>
            <a:ext cx="855277" cy="151011"/>
          </a:xfrm>
          <a:prstGeom prst="line">
            <a:avLst/>
          </a:prstGeom>
          <a:ln w="6350">
            <a:solidFill>
              <a:srgbClr val="2C2E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12943222" y="15558895"/>
            <a:ext cx="33540" cy="151011"/>
          </a:xfrm>
          <a:prstGeom prst="line">
            <a:avLst/>
          </a:prstGeom>
          <a:ln w="6350">
            <a:solidFill>
              <a:srgbClr val="2C2E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 flipH="1">
            <a:off x="12976762" y="15558895"/>
            <a:ext cx="821736" cy="151011"/>
          </a:xfrm>
          <a:prstGeom prst="line">
            <a:avLst/>
          </a:prstGeom>
          <a:ln w="6350">
            <a:solidFill>
              <a:srgbClr val="2C2E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7" name="Rounded Rectangle 256"/>
          <p:cNvSpPr/>
          <p:nvPr/>
        </p:nvSpPr>
        <p:spPr>
          <a:xfrm>
            <a:off x="12020865" y="16193141"/>
            <a:ext cx="503103" cy="241617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 w="5080">
            <a:solidFill>
              <a:srgbClr val="636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12020865" y="16193141"/>
            <a:ext cx="503103" cy="2416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520" b="1" i="0">
                <a:solidFill>
                  <a:srgbClr val="2C2E33"/>
                </a:solidFill>
                <a:latin typeface="Segoe UI"/>
              </a:rPr>
              <a:t>Score Summary</a:t>
            </a:r>
          </a:p>
        </p:txBody>
      </p:sp>
      <p:cxnSp>
        <p:nvCxnSpPr>
          <p:cNvPr id="259" name="Connector 258"/>
          <p:cNvCxnSpPr/>
          <p:nvPr/>
        </p:nvCxnSpPr>
        <p:spPr>
          <a:xfrm flipH="1">
            <a:off x="12272417" y="16011928"/>
            <a:ext cx="704345" cy="181213"/>
          </a:xfrm>
          <a:prstGeom prst="line">
            <a:avLst/>
          </a:prstGeom>
          <a:ln w="6350">
            <a:solidFill>
              <a:srgbClr val="2C2E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0" name="Rounded Rectangle 259"/>
          <p:cNvSpPr/>
          <p:nvPr/>
        </p:nvSpPr>
        <p:spPr>
          <a:xfrm>
            <a:off x="12624589" y="16193141"/>
            <a:ext cx="503103" cy="241617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 w="5080">
            <a:solidFill>
              <a:srgbClr val="636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12624589" y="16193141"/>
            <a:ext cx="503103" cy="2416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520" b="1" i="0">
                <a:solidFill>
                  <a:srgbClr val="2C2E33"/>
                </a:solidFill>
                <a:latin typeface="Segoe UI"/>
              </a:rPr>
              <a:t>AAR Dashboard</a:t>
            </a:r>
          </a:p>
        </p:txBody>
      </p:sp>
      <p:cxnSp>
        <p:nvCxnSpPr>
          <p:cNvPr id="262" name="Connector 261"/>
          <p:cNvCxnSpPr/>
          <p:nvPr/>
        </p:nvCxnSpPr>
        <p:spPr>
          <a:xfrm flipH="1">
            <a:off x="12876141" y="16011928"/>
            <a:ext cx="100621" cy="181213"/>
          </a:xfrm>
          <a:prstGeom prst="line">
            <a:avLst/>
          </a:prstGeom>
          <a:ln w="6350">
            <a:solidFill>
              <a:srgbClr val="2C2E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3" name="Rounded Rectangle 262"/>
          <p:cNvSpPr/>
          <p:nvPr/>
        </p:nvSpPr>
        <p:spPr>
          <a:xfrm>
            <a:off x="13228314" y="16193141"/>
            <a:ext cx="704345" cy="241617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 w="5080">
            <a:solidFill>
              <a:srgbClr val="636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13228314" y="16193141"/>
            <a:ext cx="704345" cy="2416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520" b="1" i="0">
                <a:solidFill>
                  <a:srgbClr val="2C2E33"/>
                </a:solidFill>
                <a:latin typeface="Segoe UI"/>
              </a:rPr>
              <a:t>Synchronised</a:t>
            </a:r>
          </a:p>
          <a:p>
            <a:pPr algn="ctr">
              <a:lnSpc>
                <a:spcPct val="90000"/>
              </a:lnSpc>
            </a:pPr>
            <a:r>
              <a:rPr sz="520" b="1" i="0">
                <a:solidFill>
                  <a:srgbClr val="2C2E33"/>
                </a:solidFill>
                <a:latin typeface="Segoe UI"/>
              </a:rPr>
              <a:t>Replay</a:t>
            </a:r>
          </a:p>
        </p:txBody>
      </p:sp>
      <p:cxnSp>
        <p:nvCxnSpPr>
          <p:cNvPr id="265" name="Connector 264"/>
          <p:cNvCxnSpPr/>
          <p:nvPr/>
        </p:nvCxnSpPr>
        <p:spPr>
          <a:xfrm>
            <a:off x="12976762" y="16011928"/>
            <a:ext cx="603725" cy="181213"/>
          </a:xfrm>
          <a:prstGeom prst="line">
            <a:avLst/>
          </a:prstGeom>
          <a:ln w="6350">
            <a:solidFill>
              <a:srgbClr val="2C2E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6" name="Rounded Rectangle 265"/>
          <p:cNvSpPr/>
          <p:nvPr/>
        </p:nvSpPr>
        <p:spPr>
          <a:xfrm>
            <a:off x="11265525" y="16705439"/>
            <a:ext cx="3422475" cy="189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762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7" name="Picture 266" descr="fig_7_17_scores_vs_benchmark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610839" y="16741439"/>
            <a:ext cx="2731845" cy="1823760"/>
          </a:xfrm>
          <a:prstGeom prst="rect">
            <a:avLst/>
          </a:prstGeom>
        </p:spPr>
      </p:pic>
      <p:sp>
        <p:nvSpPr>
          <p:cNvPr id="268" name="TextBox 267"/>
          <p:cNvSpPr txBox="1"/>
          <p:nvPr/>
        </p:nvSpPr>
        <p:spPr>
          <a:xfrm>
            <a:off x="11265525" y="18612000"/>
            <a:ext cx="3422475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" b="0" i="1">
                <a:solidFill>
                  <a:srgbClr val="63676E"/>
                </a:solidFill>
                <a:latin typeface="Segoe UI"/>
              </a:rPr>
              <a:t>Hostage Safety &amp; Accuracy — trainees plotted against novice/expert bands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432000" y="19000800"/>
            <a:ext cx="57600" cy="1512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576000" y="18961200"/>
            <a:ext cx="4320000" cy="23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B3D78"/>
                </a:solidFill>
                <a:latin typeface="Segoe UI"/>
              </a:rPr>
              <a:t>Key Results &amp; Conclusion</a:t>
            </a:r>
          </a:p>
        </p:txBody>
      </p:sp>
      <p:cxnSp>
        <p:nvCxnSpPr>
          <p:cNvPr id="271" name="Connector 270"/>
          <p:cNvCxnSpPr/>
          <p:nvPr/>
        </p:nvCxnSpPr>
        <p:spPr>
          <a:xfrm>
            <a:off x="2966400" y="19083600"/>
            <a:ext cx="11721600" cy="0"/>
          </a:xfrm>
          <a:prstGeom prst="line">
            <a:avLst/>
          </a:prstGeom>
          <a:ln w="9525">
            <a:solidFill>
              <a:srgbClr val="D8DC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2" name="Rounded Rectangle 271"/>
          <p:cNvSpPr/>
          <p:nvPr/>
        </p:nvSpPr>
        <p:spPr>
          <a:xfrm>
            <a:off x="432000" y="19296000"/>
            <a:ext cx="8268479" cy="1152000"/>
          </a:xfrm>
          <a:prstGeom prst="roundRect">
            <a:avLst>
              <a:gd name="adj" fmla="val 6000"/>
            </a:avLst>
          </a:prstGeom>
          <a:solidFill>
            <a:srgbClr val="FBFCFE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432000" y="19296000"/>
            <a:ext cx="50400" cy="1152000"/>
          </a:xfrm>
          <a:prstGeom prst="rect">
            <a:avLst/>
          </a:prstGeom>
          <a:solidFill>
            <a:srgbClr val="0B3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612000" y="19368000"/>
            <a:ext cx="7944479" cy="10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10" b="0" i="0">
                <a:solidFill>
                  <a:srgbClr val="2C2E33"/>
                </a:solidFill>
                <a:latin typeface="Segoe UI"/>
              </a:rPr>
              <a:t>Every module was evaluated with a methodology matched to what it produces — a 2,000-scenario statistical study, a controlled ablation with real significance testing, a construct-validity audit, and a benchmark/discriminant-validity audit. M1's generation is valid and traceable to its parameters; M2's AI tiers are perceived as genuinely more intelligent as capability increases; M3 honestly separates trainees from published benchmarks; M4's scoring agrees with every checkable benchmark and discriminates trainees on 3 of 5 scores.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612000" y="20106000"/>
            <a:ext cx="7944479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80" b="1" i="0">
                <a:solidFill>
                  <a:srgbClr val="0B3D78"/>
                </a:solidFill>
                <a:latin typeface="Segoe UI"/>
              </a:rPr>
              <a:t>Sentinels demonstrates that parameter-driven generation, tactical NPC behaviour, non-invasive cognition measurement, and evidence-linked AAR can be integrated into one coherent, empirically evaluated VR trainer on consumer hardware.</a:t>
            </a:r>
          </a:p>
        </p:txBody>
      </p:sp>
      <p:sp>
        <p:nvSpPr>
          <p:cNvPr id="276" name="Rounded Rectangle 275"/>
          <p:cNvSpPr/>
          <p:nvPr/>
        </p:nvSpPr>
        <p:spPr>
          <a:xfrm>
            <a:off x="8880480" y="19296000"/>
            <a:ext cx="5807520" cy="1152000"/>
          </a:xfrm>
          <a:prstGeom prst="roundRect">
            <a:avLst>
              <a:gd name="adj" fmla="val 6000"/>
            </a:avLst>
          </a:prstGeom>
          <a:solidFill>
            <a:srgbClr val="FFF9EF"/>
          </a:solidFill>
          <a:ln w="9525">
            <a:solidFill>
              <a:srgbClr val="EDD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8880480" y="19296000"/>
            <a:ext cx="50400" cy="11520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9024480" y="19350000"/>
            <a:ext cx="555552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EB6834"/>
                </a:solidFill>
                <a:latin typeface="Segoe UI"/>
              </a:rPr>
              <a:t>LIMITATIONS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9024480" y="19494000"/>
            <a:ext cx="555552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000"/>
              </a:lnSpc>
              <a:spcAft>
                <a:spcPts val="30"/>
              </a:spcAft>
            </a:pPr>
            <a:r>
              <a:rPr sz="660" b="1">
                <a:solidFill>
                  <a:srgbClr val="EB6834"/>
                </a:solidFill>
                <a:latin typeface="Segoe UI"/>
              </a:rPr>
              <a:t>▪ </a:t>
            </a:r>
            <a:r>
              <a:rPr sz="607" b="1">
                <a:solidFill>
                  <a:srgbClr val="EB6834"/>
                </a:solidFill>
                <a:latin typeface="Segoe UI"/>
              </a:rPr>
              <a:t> </a:t>
            </a:r>
            <a:r>
              <a:rPr sz="660" b="0">
                <a:solidFill>
                  <a:srgbClr val="2C2E33"/>
                </a:solidFill>
                <a:latin typeface="Segoe UI"/>
              </a:rPr>
              <a:t>Single floor, single hostage per mission</a:t>
            </a:r>
          </a:p>
          <a:p>
            <a:pPr>
              <a:lnSpc>
                <a:spcPct val="98000"/>
              </a:lnSpc>
              <a:spcAft>
                <a:spcPts val="30"/>
              </a:spcAft>
            </a:pPr>
            <a:r>
              <a:rPr sz="660" b="1">
                <a:solidFill>
                  <a:srgbClr val="EB6834"/>
                </a:solidFill>
                <a:latin typeface="Segoe UI"/>
              </a:rPr>
              <a:t>▪ </a:t>
            </a:r>
            <a:r>
              <a:rPr sz="607" b="1">
                <a:solidFill>
                  <a:srgbClr val="EB6834"/>
                </a:solidFill>
                <a:latin typeface="Segoe UI"/>
              </a:rPr>
              <a:t> </a:t>
            </a:r>
            <a:r>
              <a:rPr sz="660" b="0">
                <a:solidFill>
                  <a:srgbClr val="2C2E33"/>
                </a:solidFill>
                <a:latin typeface="Segoe UI"/>
              </a:rPr>
              <a:t>Quest 3 approximate body tracking; ~20-participant cognitive sample</a:t>
            </a:r>
          </a:p>
          <a:p>
            <a:pPr>
              <a:lnSpc>
                <a:spcPct val="98000"/>
              </a:lnSpc>
              <a:spcAft>
                <a:spcPts val="30"/>
              </a:spcAft>
            </a:pPr>
            <a:r>
              <a:rPr sz="660" b="1">
                <a:solidFill>
                  <a:srgbClr val="EB6834"/>
                </a:solidFill>
                <a:latin typeface="Segoe UI"/>
              </a:rPr>
              <a:t>▪ </a:t>
            </a:r>
            <a:r>
              <a:rPr sz="607" b="1">
                <a:solidFill>
                  <a:srgbClr val="EB6834"/>
                </a:solidFill>
                <a:latin typeface="Segoe UI"/>
              </a:rPr>
              <a:t> </a:t>
            </a:r>
            <a:r>
              <a:rPr sz="660" b="0">
                <a:solidFill>
                  <a:srgbClr val="2C2E33"/>
                </a:solidFill>
                <a:latin typeface="Segoe UI"/>
              </a:rPr>
              <a:t>Greybox (ProBuilder) environments, not production art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9024480" y="19890000"/>
            <a:ext cx="555552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EB6834"/>
                </a:solidFill>
                <a:latin typeface="Segoe UI"/>
              </a:rPr>
              <a:t>FUTURE WORK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9024480" y="20034000"/>
            <a:ext cx="555552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8000"/>
              </a:lnSpc>
              <a:spcAft>
                <a:spcPts val="30"/>
              </a:spcAft>
            </a:pPr>
            <a:r>
              <a:rPr sz="660" b="1">
                <a:solidFill>
                  <a:srgbClr val="EB6834"/>
                </a:solidFill>
                <a:latin typeface="Segoe UI"/>
              </a:rPr>
              <a:t>▪ </a:t>
            </a:r>
            <a:r>
              <a:rPr sz="607" b="1">
                <a:solidFill>
                  <a:srgbClr val="EB6834"/>
                </a:solidFill>
                <a:latin typeface="Segoe UI"/>
              </a:rPr>
              <a:t> </a:t>
            </a:r>
            <a:r>
              <a:rPr sz="660" b="0">
                <a:solidFill>
                  <a:srgbClr val="2C2E33"/>
                </a:solidFill>
                <a:latin typeface="Segoe UI"/>
              </a:rPr>
              <a:t>Multi-floor generation; richer NPC coordination</a:t>
            </a:r>
          </a:p>
          <a:p>
            <a:pPr>
              <a:lnSpc>
                <a:spcPct val="98000"/>
              </a:lnSpc>
              <a:spcAft>
                <a:spcPts val="30"/>
              </a:spcAft>
            </a:pPr>
            <a:r>
              <a:rPr sz="660" b="1">
                <a:solidFill>
                  <a:srgbClr val="EB6834"/>
                </a:solidFill>
                <a:latin typeface="Segoe UI"/>
              </a:rPr>
              <a:t>▪ </a:t>
            </a:r>
            <a:r>
              <a:rPr sz="607" b="1">
                <a:solidFill>
                  <a:srgbClr val="EB6834"/>
                </a:solidFill>
                <a:latin typeface="Segoe UI"/>
              </a:rPr>
              <a:t> </a:t>
            </a:r>
            <a:r>
              <a:rPr sz="660" b="0">
                <a:solidFill>
                  <a:srgbClr val="2C2E33"/>
                </a:solidFill>
                <a:latin typeface="Segoe UI"/>
              </a:rPr>
              <a:t>15–30 participant SIM-TLX study; trained-personnel transfer study</a:t>
            </a:r>
          </a:p>
        </p:txBody>
      </p:sp>
      <p:cxnSp>
        <p:nvCxnSpPr>
          <p:cNvPr id="282" name="Connector 281"/>
          <p:cNvCxnSpPr/>
          <p:nvPr/>
        </p:nvCxnSpPr>
        <p:spPr>
          <a:xfrm>
            <a:off x="432000" y="20664000"/>
            <a:ext cx="14256000" cy="0"/>
          </a:xfrm>
          <a:prstGeom prst="line">
            <a:avLst/>
          </a:prstGeom>
          <a:ln w="27940">
            <a:solidFill>
              <a:srgbClr val="0B3D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3" name="Rounded Rectangle 282"/>
          <p:cNvSpPr/>
          <p:nvPr/>
        </p:nvSpPr>
        <p:spPr>
          <a:xfrm>
            <a:off x="432000" y="20637000"/>
            <a:ext cx="612000" cy="612000"/>
          </a:xfrm>
          <a:prstGeom prst="roundRect">
            <a:avLst>
              <a:gd name="adj" fmla="val 50000"/>
            </a:avLst>
          </a:prstGeom>
          <a:solidFill>
            <a:srgbClr val="FBFCFE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4" name="Picture 283" descr="Uni_emblem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8000" y="20673000"/>
            <a:ext cx="540000" cy="540000"/>
          </a:xfrm>
          <a:prstGeom prst="rect">
            <a:avLst/>
          </a:prstGeom>
        </p:spPr>
      </p:pic>
      <p:sp>
        <p:nvSpPr>
          <p:cNvPr id="285" name="TextBox 284"/>
          <p:cNvSpPr txBox="1"/>
          <p:nvPr/>
        </p:nvSpPr>
        <p:spPr>
          <a:xfrm>
            <a:off x="1260000" y="20826000"/>
            <a:ext cx="4276800" cy="23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60" b="0" i="0">
                <a:solidFill>
                  <a:srgbClr val="2C2E33"/>
                </a:solidFill>
                <a:latin typeface="Segoe UI"/>
              </a:rPr>
              <a:t>BSc (Hons) in Information Technology</a:t>
            </a:r>
          </a:p>
          <a:p>
            <a:pPr algn="l">
              <a:lnSpc>
                <a:spcPct val="125000"/>
              </a:lnSpc>
            </a:pPr>
            <a:r>
              <a:rPr sz="860" b="0" i="0">
                <a:solidFill>
                  <a:srgbClr val="2C2E33"/>
                </a:solidFill>
                <a:latin typeface="Segoe UI"/>
              </a:rPr>
              <a:t>Department of Information Technology</a:t>
            </a:r>
          </a:p>
          <a:p>
            <a:pPr algn="l">
              <a:lnSpc>
                <a:spcPct val="125000"/>
              </a:lnSpc>
            </a:pPr>
            <a:r>
              <a:rPr sz="860" b="0" i="0">
                <a:solidFill>
                  <a:srgbClr val="2C2E33"/>
                </a:solidFill>
                <a:latin typeface="Segoe UI"/>
              </a:rPr>
              <a:t>Faculty of Information Technology</a:t>
            </a:r>
          </a:p>
          <a:p>
            <a:pPr algn="l">
              <a:lnSpc>
                <a:spcPct val="125000"/>
              </a:lnSpc>
            </a:pPr>
            <a:r>
              <a:rPr sz="860" b="0" i="0">
                <a:solidFill>
                  <a:srgbClr val="2C2E33"/>
                </a:solidFill>
                <a:latin typeface="Segoe UI"/>
              </a:rPr>
              <a:t>University of Moratuwa, Sri Lanka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5824800" y="20754000"/>
            <a:ext cx="42768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EB6834"/>
                </a:solidFill>
                <a:latin typeface="Segoe UI"/>
              </a:rPr>
              <a:t>GROUP MEMBERS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5824800" y="20905200"/>
            <a:ext cx="4276800" cy="226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760">
                <a:solidFill>
                  <a:srgbClr val="63676E"/>
                </a:solidFill>
                <a:latin typeface="Segoe UI"/>
              </a:rPr>
              <a:t>214036J  </a:t>
            </a:r>
            <a:r>
              <a:rPr sz="760">
                <a:solidFill>
                  <a:srgbClr val="2C2E33"/>
                </a:solidFill>
                <a:latin typeface="Segoe UI"/>
              </a:rPr>
              <a:t>Chathuranga S.P.Y.N</a:t>
            </a:r>
          </a:p>
          <a:p>
            <a:pPr>
              <a:lnSpc>
                <a:spcPct val="115000"/>
              </a:lnSpc>
            </a:pPr>
            <a:r>
              <a:rPr sz="760">
                <a:solidFill>
                  <a:srgbClr val="63676E"/>
                </a:solidFill>
                <a:latin typeface="Segoe UI"/>
              </a:rPr>
              <a:t>214057A  </a:t>
            </a:r>
            <a:r>
              <a:rPr sz="760">
                <a:solidFill>
                  <a:srgbClr val="2C2E33"/>
                </a:solidFill>
                <a:latin typeface="Segoe UI"/>
              </a:rPr>
              <a:t>Dilshan R.P</a:t>
            </a:r>
          </a:p>
          <a:p>
            <a:pPr>
              <a:lnSpc>
                <a:spcPct val="115000"/>
              </a:lnSpc>
            </a:pPr>
            <a:r>
              <a:rPr sz="760">
                <a:solidFill>
                  <a:srgbClr val="63676E"/>
                </a:solidFill>
                <a:latin typeface="Segoe UI"/>
              </a:rPr>
              <a:t>214217P  </a:t>
            </a:r>
            <a:r>
              <a:rPr sz="760">
                <a:solidFill>
                  <a:srgbClr val="2C2E33"/>
                </a:solidFill>
                <a:latin typeface="Segoe UI"/>
              </a:rPr>
              <a:t>Wadumulla G.M.D</a:t>
            </a:r>
          </a:p>
          <a:p>
            <a:pPr>
              <a:lnSpc>
                <a:spcPct val="115000"/>
              </a:lnSpc>
            </a:pPr>
            <a:r>
              <a:rPr sz="760">
                <a:solidFill>
                  <a:srgbClr val="63676E"/>
                </a:solidFill>
                <a:latin typeface="Segoe UI"/>
              </a:rPr>
              <a:t>214237C  </a:t>
            </a:r>
            <a:r>
              <a:rPr sz="760">
                <a:solidFill>
                  <a:srgbClr val="2C2E33"/>
                </a:solidFill>
                <a:latin typeface="Segoe UI"/>
              </a:rPr>
              <a:t>Wijesinghe W.N.U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10389600" y="20754000"/>
            <a:ext cx="4298399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>
                <a:solidFill>
                  <a:srgbClr val="EB6834"/>
                </a:solidFill>
                <a:latin typeface="Segoe UI"/>
              </a:rPr>
              <a:t>PROJECT SUPERVISOR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10389600" y="20905200"/>
            <a:ext cx="4298399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0" i="0">
                <a:solidFill>
                  <a:srgbClr val="2C2E33"/>
                </a:solidFill>
                <a:latin typeface="Segoe UI"/>
              </a:rPr>
              <a:t>Dr. S. C. Premaratne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